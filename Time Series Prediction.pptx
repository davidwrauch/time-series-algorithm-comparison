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9" r:id="rId4"/>
    <p:sldId id="260" r:id="rId5"/>
    <p:sldId id="261" r:id="rId6"/>
    <p:sldId id="262" r:id="rId7"/>
    <p:sldId id="263" r:id="rId8"/>
    <p:sldId id="264" r:id="rId9"/>
    <p:sldId id="265" r:id="rId10"/>
    <p:sldId id="266" r:id="rId11"/>
    <p:sldId id="267" r:id="rId12"/>
    <p:sldId id="258"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CFCD7-329A-406C-8835-1FC06CF24FDB}"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1FB6C9-01FD-4033-8EF8-FF874FCADE82}" type="slidenum">
              <a:rPr lang="en-US" smtClean="0"/>
              <a:t>‹#›</a:t>
            </a:fld>
            <a:endParaRPr lang="en-US"/>
          </a:p>
        </p:txBody>
      </p:sp>
    </p:spTree>
    <p:extLst>
      <p:ext uri="{BB962C8B-B14F-4D97-AF65-F5344CB8AC3E}">
        <p14:creationId xmlns:p14="http://schemas.microsoft.com/office/powerpoint/2010/main" val="3294874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C:\data exercises\random forest regression</a:t>
            </a:r>
          </a:p>
        </p:txBody>
      </p:sp>
      <p:sp>
        <p:nvSpPr>
          <p:cNvPr id="4" name="Slide Number Placeholder 3"/>
          <p:cNvSpPr>
            <a:spLocks noGrp="1"/>
          </p:cNvSpPr>
          <p:nvPr>
            <p:ph type="sldNum" sz="quarter" idx="5"/>
          </p:nvPr>
        </p:nvSpPr>
        <p:spPr/>
        <p:txBody>
          <a:bodyPr/>
          <a:lstStyle/>
          <a:p>
            <a:fld id="{861FB6C9-01FD-4033-8EF8-FF874FCADE82}" type="slidenum">
              <a:rPr lang="en-US" smtClean="0"/>
              <a:t>5</a:t>
            </a:fld>
            <a:endParaRPr lang="en-US"/>
          </a:p>
        </p:txBody>
      </p:sp>
    </p:spTree>
    <p:extLst>
      <p:ext uri="{BB962C8B-B14F-4D97-AF65-F5344CB8AC3E}">
        <p14:creationId xmlns:p14="http://schemas.microsoft.com/office/powerpoint/2010/main" val="2754482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26505-3F28-62E1-2C6C-C73AA88BB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F24D3-A676-A465-C83F-7528FD526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E4657-B247-B548-F681-C845975FBF55}"/>
              </a:ext>
            </a:extLst>
          </p:cNvPr>
          <p:cNvSpPr>
            <a:spLocks noGrp="1"/>
          </p:cNvSpPr>
          <p:nvPr>
            <p:ph type="body" idx="1"/>
          </p:nvPr>
        </p:nvSpPr>
        <p:spPr/>
        <p:txBody>
          <a:bodyPr/>
          <a:lstStyle/>
          <a:p>
            <a:r>
              <a:rPr lang="en-US" dirty="0"/>
              <a:t>C:\data exercises\random forest regression</a:t>
            </a:r>
          </a:p>
        </p:txBody>
      </p:sp>
      <p:sp>
        <p:nvSpPr>
          <p:cNvPr id="4" name="Slide Number Placeholder 3">
            <a:extLst>
              <a:ext uri="{FF2B5EF4-FFF2-40B4-BE49-F238E27FC236}">
                <a16:creationId xmlns:a16="http://schemas.microsoft.com/office/drawing/2014/main" id="{4414C4D9-FDD1-A7FE-C009-2878EEDEC3D0}"/>
              </a:ext>
            </a:extLst>
          </p:cNvPr>
          <p:cNvSpPr>
            <a:spLocks noGrp="1"/>
          </p:cNvSpPr>
          <p:nvPr>
            <p:ph type="sldNum" sz="quarter" idx="5"/>
          </p:nvPr>
        </p:nvSpPr>
        <p:spPr/>
        <p:txBody>
          <a:bodyPr/>
          <a:lstStyle/>
          <a:p>
            <a:fld id="{861FB6C9-01FD-4033-8EF8-FF874FCADE82}" type="slidenum">
              <a:rPr lang="en-US" smtClean="0"/>
              <a:t>6</a:t>
            </a:fld>
            <a:endParaRPr lang="en-US"/>
          </a:p>
        </p:txBody>
      </p:sp>
    </p:spTree>
    <p:extLst>
      <p:ext uri="{BB962C8B-B14F-4D97-AF65-F5344CB8AC3E}">
        <p14:creationId xmlns:p14="http://schemas.microsoft.com/office/powerpoint/2010/main" val="2557716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05D42-DDEE-9925-AF17-72DB0493C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8A95B-6D6F-1054-188A-E172FEB62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C9CB0-601C-E03C-1272-28318D167DC0}"/>
              </a:ext>
            </a:extLst>
          </p:cNvPr>
          <p:cNvSpPr>
            <a:spLocks noGrp="1"/>
          </p:cNvSpPr>
          <p:nvPr>
            <p:ph type="body" idx="1"/>
          </p:nvPr>
        </p:nvSpPr>
        <p:spPr/>
        <p:txBody>
          <a:bodyPr/>
          <a:lstStyle/>
          <a:p>
            <a:r>
              <a:rPr lang="en-US" dirty="0"/>
              <a:t>C:\data exercises\random forest regression</a:t>
            </a:r>
          </a:p>
        </p:txBody>
      </p:sp>
      <p:sp>
        <p:nvSpPr>
          <p:cNvPr id="4" name="Slide Number Placeholder 3">
            <a:extLst>
              <a:ext uri="{FF2B5EF4-FFF2-40B4-BE49-F238E27FC236}">
                <a16:creationId xmlns:a16="http://schemas.microsoft.com/office/drawing/2014/main" id="{CEBB21AD-ECD1-5980-94DF-7757B2A1C9F8}"/>
              </a:ext>
            </a:extLst>
          </p:cNvPr>
          <p:cNvSpPr>
            <a:spLocks noGrp="1"/>
          </p:cNvSpPr>
          <p:nvPr>
            <p:ph type="sldNum" sz="quarter" idx="5"/>
          </p:nvPr>
        </p:nvSpPr>
        <p:spPr/>
        <p:txBody>
          <a:bodyPr/>
          <a:lstStyle/>
          <a:p>
            <a:fld id="{861FB6C9-01FD-4033-8EF8-FF874FCADE82}" type="slidenum">
              <a:rPr lang="en-US" smtClean="0"/>
              <a:t>7</a:t>
            </a:fld>
            <a:endParaRPr lang="en-US"/>
          </a:p>
        </p:txBody>
      </p:sp>
    </p:spTree>
    <p:extLst>
      <p:ext uri="{BB962C8B-B14F-4D97-AF65-F5344CB8AC3E}">
        <p14:creationId xmlns:p14="http://schemas.microsoft.com/office/powerpoint/2010/main" val="3635158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7473B-5873-13D3-ECD6-7B9AD996B8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44900D-224A-E297-67D8-768B348A34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8243F-8A98-3F6D-E006-9563034B1969}"/>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C7C05930-741A-815D-98D5-BE419E80A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D83F5-EB6F-85AB-2067-D4BE81C9D52F}"/>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4242204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6024-9D5B-59D6-16CC-2897735E54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FC0217-854D-5EC2-7FE4-61E64312DA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FFB2EE-5954-B43F-81ED-7E0CAE85435B}"/>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4F100DA8-390A-BF15-D5F4-E08C7405DE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3739E-4DE2-E7BA-EA75-994079D23DE1}"/>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2168762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4DF2B-28C3-6F9B-E15D-D5282B8FBC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4BE318-BE0E-21D6-1A9E-871E7F463A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8DE3F7-28E0-D6A1-75C3-2128F9D793C6}"/>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3F580DEB-1099-60D7-ADF7-68C80512BA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C5D40-59E7-97B8-4B11-303B79E0BE34}"/>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478232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BD93-3CAC-77CF-D58A-CCC49A70AA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8D6AAB-8922-FCB7-7908-FCCE3EFCC3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9F6A2C-07F5-4292-B71F-F5C1E565D4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53F9DD-E58C-FF15-356A-EE2244C42513}"/>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6" name="Footer Placeholder 5">
            <a:extLst>
              <a:ext uri="{FF2B5EF4-FFF2-40B4-BE49-F238E27FC236}">
                <a16:creationId xmlns:a16="http://schemas.microsoft.com/office/drawing/2014/main" id="{1CBCCF6C-5F02-5B43-E9F5-B128E21F55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5C428-1D12-B6E0-27FB-989C66580B47}"/>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305716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A4C63-1843-1A11-0B27-8D7835883F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BB8D8F-3465-81DC-F71F-A7CAA0AAFA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45C876-BF98-0F7E-822A-2C14BC1941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90FBD-1A24-D057-C433-13DBD8B1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31E7EF-3029-3FAA-BC0E-6F620C1BB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ABA734-B79E-6171-15C7-82554D1F4A78}"/>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8" name="Footer Placeholder 7">
            <a:extLst>
              <a:ext uri="{FF2B5EF4-FFF2-40B4-BE49-F238E27FC236}">
                <a16:creationId xmlns:a16="http://schemas.microsoft.com/office/drawing/2014/main" id="{94DC54D5-BA1C-967E-D636-5FD939FA15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C358C3-C1FE-24DA-10A6-5DA051A8F8A5}"/>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1742947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71B0-E1BA-C021-3997-BB395D1D45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B0F145-94A3-AAAA-A01D-9F2C8371DE9A}"/>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4" name="Footer Placeholder 3">
            <a:extLst>
              <a:ext uri="{FF2B5EF4-FFF2-40B4-BE49-F238E27FC236}">
                <a16:creationId xmlns:a16="http://schemas.microsoft.com/office/drawing/2014/main" id="{98397E8F-DF8A-82FB-2569-66699739EB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A10A4A-DA3C-622A-F078-71EFE3ADA75E}"/>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1144069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00F14-691D-2AB2-B578-3B8D2796AE3B}"/>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3" name="Footer Placeholder 2">
            <a:extLst>
              <a:ext uri="{FF2B5EF4-FFF2-40B4-BE49-F238E27FC236}">
                <a16:creationId xmlns:a16="http://schemas.microsoft.com/office/drawing/2014/main" id="{B0A5B3B6-F000-403A-9617-EFBFE1E1B8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11D46F-D903-687B-6347-6EF073ABF598}"/>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3250461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CDB79-CBF7-5466-16EC-89ACC20B4E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732529-AE8B-A74C-880D-13B61620D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1AC601-AD6B-655B-ADE5-94438DF76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7766D4-EA7C-A88C-4A02-47DC591E91D3}"/>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6" name="Footer Placeholder 5">
            <a:extLst>
              <a:ext uri="{FF2B5EF4-FFF2-40B4-BE49-F238E27FC236}">
                <a16:creationId xmlns:a16="http://schemas.microsoft.com/office/drawing/2014/main" id="{4C1C5F15-BEF9-FFAA-A8FF-D8F3FDAD9C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2E0E45-0B71-1817-B47E-031CEFCB0CC2}"/>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2030590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3F578-5C1E-B7BE-9AE4-7416F9B5C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345B1A-782F-66D4-EEF7-3B25DE369F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0A4B78-031F-AFB0-7649-BD87D504A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32CDA-DE30-BD8D-974E-55456DDF7A2F}"/>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6" name="Footer Placeholder 5">
            <a:extLst>
              <a:ext uri="{FF2B5EF4-FFF2-40B4-BE49-F238E27FC236}">
                <a16:creationId xmlns:a16="http://schemas.microsoft.com/office/drawing/2014/main" id="{80ADC943-5924-8C9E-5F7B-05D027F04A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6BE7DF-FC45-A732-EF8E-10DCF4A17FB6}"/>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78669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6CE3-87CB-ED36-0C55-AA9B040136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3A523D-6235-EDD7-EA71-A13A50F237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9802E-8964-1C5B-DDB8-034CBC9CADC6}"/>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70B73DA7-E15F-0C79-6577-024E98A65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FC261-5F5A-2BE2-C897-B86675A2A6EF}"/>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1513883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B8D83-2373-C617-9C20-2F633C78F9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B0945-34EC-DFB3-51E2-054E2DB17E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9E4CF-8EA8-0888-8D12-5815CE9A674F}"/>
              </a:ext>
            </a:extLst>
          </p:cNvPr>
          <p:cNvSpPr>
            <a:spLocks noGrp="1"/>
          </p:cNvSpPr>
          <p:nvPr>
            <p:ph type="dt" sz="half" idx="10"/>
          </p:nvPr>
        </p:nvSpPr>
        <p:spPr/>
        <p:txBody>
          <a:body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0AB49CC0-0F6D-12A4-02A4-BAB1F5108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7E89A1-8D47-E300-59F6-D5F7328F3BA1}"/>
              </a:ext>
            </a:extLst>
          </p:cNvPr>
          <p:cNvSpPr>
            <a:spLocks noGrp="1"/>
          </p:cNvSpPr>
          <p:nvPr>
            <p:ph type="sldNum" sz="quarter" idx="12"/>
          </p:nvPr>
        </p:nvSpPr>
        <p:spPr/>
        <p:txBody>
          <a:bodyPr/>
          <a:lstStyle/>
          <a:p>
            <a:fld id="{70D23C77-A811-4B28-8534-3D228181959D}" type="slidenum">
              <a:rPr lang="en-US" smtClean="0"/>
              <a:t>‹#›</a:t>
            </a:fld>
            <a:endParaRPr lang="en-US"/>
          </a:p>
        </p:txBody>
      </p:sp>
    </p:spTree>
    <p:extLst>
      <p:ext uri="{BB962C8B-B14F-4D97-AF65-F5344CB8AC3E}">
        <p14:creationId xmlns:p14="http://schemas.microsoft.com/office/powerpoint/2010/main" val="4143162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33B8BB-486F-28B6-0BAB-D5424FF28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19222-F2B8-17E8-0B5B-9ADD4C05D5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3B3A9-A2B8-9C49-7DEF-D13127444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748966-3DB6-4D7B-AD9E-4CCA8B905256}" type="datetimeFigureOut">
              <a:rPr lang="en-US" smtClean="0"/>
              <a:t>12/3/2025</a:t>
            </a:fld>
            <a:endParaRPr lang="en-US"/>
          </a:p>
        </p:txBody>
      </p:sp>
      <p:sp>
        <p:nvSpPr>
          <p:cNvPr id="5" name="Footer Placeholder 4">
            <a:extLst>
              <a:ext uri="{FF2B5EF4-FFF2-40B4-BE49-F238E27FC236}">
                <a16:creationId xmlns:a16="http://schemas.microsoft.com/office/drawing/2014/main" id="{4CEDCBCC-1123-588A-45CA-4EB62F7E91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9532FF-AFF6-4CA6-41C9-0354DE0869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D23C77-A811-4B28-8534-3D228181959D}" type="slidenum">
              <a:rPr lang="en-US" smtClean="0"/>
              <a:t>‹#›</a:t>
            </a:fld>
            <a:endParaRPr lang="en-US"/>
          </a:p>
        </p:txBody>
      </p:sp>
    </p:spTree>
    <p:extLst>
      <p:ext uri="{BB962C8B-B14F-4D97-AF65-F5344CB8AC3E}">
        <p14:creationId xmlns:p14="http://schemas.microsoft.com/office/powerpoint/2010/main" val="1317870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shenba/time-series-datasets?resource=download"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0F3F5-EB4D-D5EB-3D5F-A0688B038204}"/>
              </a:ext>
            </a:extLst>
          </p:cNvPr>
          <p:cNvSpPr>
            <a:spLocks noGrp="1"/>
          </p:cNvSpPr>
          <p:nvPr>
            <p:ph type="ctrTitle"/>
          </p:nvPr>
        </p:nvSpPr>
        <p:spPr/>
        <p:txBody>
          <a:bodyPr/>
          <a:lstStyle/>
          <a:p>
            <a:r>
              <a:rPr lang="en-US" dirty="0"/>
              <a:t>Time Series Prediction</a:t>
            </a:r>
          </a:p>
        </p:txBody>
      </p:sp>
      <p:sp>
        <p:nvSpPr>
          <p:cNvPr id="3" name="Subtitle 2">
            <a:extLst>
              <a:ext uri="{FF2B5EF4-FFF2-40B4-BE49-F238E27FC236}">
                <a16:creationId xmlns:a16="http://schemas.microsoft.com/office/drawing/2014/main" id="{B7086791-AB38-E6E1-213F-460129C4CA41}"/>
              </a:ext>
            </a:extLst>
          </p:cNvPr>
          <p:cNvSpPr>
            <a:spLocks noGrp="1"/>
          </p:cNvSpPr>
          <p:nvPr>
            <p:ph type="subTitle" idx="1"/>
          </p:nvPr>
        </p:nvSpPr>
        <p:spPr/>
        <p:txBody>
          <a:bodyPr/>
          <a:lstStyle/>
          <a:p>
            <a:r>
              <a:rPr lang="en-US" dirty="0"/>
              <a:t>Algorithms and parameters compared</a:t>
            </a:r>
          </a:p>
        </p:txBody>
      </p:sp>
    </p:spTree>
    <p:extLst>
      <p:ext uri="{BB962C8B-B14F-4D97-AF65-F5344CB8AC3E}">
        <p14:creationId xmlns:p14="http://schemas.microsoft.com/office/powerpoint/2010/main" val="280871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FA3-FC3B-4618-1624-D31D74870FA7}"/>
              </a:ext>
            </a:extLst>
          </p:cNvPr>
          <p:cNvSpPr>
            <a:spLocks noGrp="1"/>
          </p:cNvSpPr>
          <p:nvPr>
            <p:ph type="title"/>
          </p:nvPr>
        </p:nvSpPr>
        <p:spPr>
          <a:xfrm>
            <a:off x="838200" y="0"/>
            <a:ext cx="10515600" cy="773723"/>
          </a:xfrm>
        </p:spPr>
        <p:txBody>
          <a:bodyPr/>
          <a:lstStyle/>
          <a:p>
            <a:pPr algn="ctr"/>
            <a:r>
              <a:rPr lang="en-US" dirty="0"/>
              <a:t>The data – Electricity Use</a:t>
            </a:r>
          </a:p>
        </p:txBody>
      </p:sp>
      <p:pic>
        <p:nvPicPr>
          <p:cNvPr id="5" name="Picture 4">
            <a:extLst>
              <a:ext uri="{FF2B5EF4-FFF2-40B4-BE49-F238E27FC236}">
                <a16:creationId xmlns:a16="http://schemas.microsoft.com/office/drawing/2014/main" id="{90D4A080-8614-A595-7097-BC8AA89D15E1}"/>
              </a:ext>
            </a:extLst>
          </p:cNvPr>
          <p:cNvPicPr>
            <a:picLocks noChangeAspect="1"/>
          </p:cNvPicPr>
          <p:nvPr/>
        </p:nvPicPr>
        <p:blipFill>
          <a:blip r:embed="rId2"/>
          <a:stretch>
            <a:fillRect/>
          </a:stretch>
        </p:blipFill>
        <p:spPr>
          <a:xfrm>
            <a:off x="1018032" y="1485225"/>
            <a:ext cx="10155936" cy="5372775"/>
          </a:xfrm>
          <a:prstGeom prst="rect">
            <a:avLst/>
          </a:prstGeom>
        </p:spPr>
      </p:pic>
      <p:sp>
        <p:nvSpPr>
          <p:cNvPr id="6" name="TextBox 5">
            <a:extLst>
              <a:ext uri="{FF2B5EF4-FFF2-40B4-BE49-F238E27FC236}">
                <a16:creationId xmlns:a16="http://schemas.microsoft.com/office/drawing/2014/main" id="{635672A7-6213-FCFB-1B6D-7EBAEC3E4B9D}"/>
              </a:ext>
            </a:extLst>
          </p:cNvPr>
          <p:cNvSpPr txBox="1"/>
          <p:nvPr/>
        </p:nvSpPr>
        <p:spPr>
          <a:xfrm>
            <a:off x="1336430" y="1688122"/>
            <a:ext cx="5744308" cy="1200329"/>
          </a:xfrm>
          <a:prstGeom prst="rect">
            <a:avLst/>
          </a:prstGeom>
          <a:noFill/>
        </p:spPr>
        <p:txBody>
          <a:bodyPr wrap="square" rtlCol="0">
            <a:spAutoFit/>
          </a:bodyPr>
          <a:lstStyle/>
          <a:p>
            <a:r>
              <a:rPr lang="en-US" dirty="0"/>
              <a:t>From Kaggle: </a:t>
            </a:r>
            <a:r>
              <a:rPr lang="en-US" dirty="0">
                <a:hlinkClick r:id="rId3"/>
              </a:rPr>
              <a:t>https://www.kaggle.com/datasets/shenba/time-series-datasets?resource=download</a:t>
            </a:r>
            <a:r>
              <a:rPr lang="en-US" dirty="0"/>
              <a:t> </a:t>
            </a:r>
          </a:p>
          <a:p>
            <a:r>
              <a:rPr lang="en-US" dirty="0"/>
              <a:t>Data is monthly from 1985-01-01 to 2018-01-01</a:t>
            </a:r>
          </a:p>
        </p:txBody>
      </p:sp>
    </p:spTree>
    <p:extLst>
      <p:ext uri="{BB962C8B-B14F-4D97-AF65-F5344CB8AC3E}">
        <p14:creationId xmlns:p14="http://schemas.microsoft.com/office/powerpoint/2010/main" val="1643506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C5ED-62EA-B7B5-D0C1-3CD6E509BEA8}"/>
              </a:ext>
            </a:extLst>
          </p:cNvPr>
          <p:cNvSpPr>
            <a:spLocks noGrp="1"/>
          </p:cNvSpPr>
          <p:nvPr>
            <p:ph type="title"/>
          </p:nvPr>
        </p:nvSpPr>
        <p:spPr/>
        <p:txBody>
          <a:bodyPr/>
          <a:lstStyle/>
          <a:p>
            <a:r>
              <a:rPr lang="en-US" dirty="0"/>
              <a:t>We want predictions but…</a:t>
            </a:r>
          </a:p>
        </p:txBody>
      </p:sp>
      <p:sp>
        <p:nvSpPr>
          <p:cNvPr id="3" name="Content Placeholder 2">
            <a:extLst>
              <a:ext uri="{FF2B5EF4-FFF2-40B4-BE49-F238E27FC236}">
                <a16:creationId xmlns:a16="http://schemas.microsoft.com/office/drawing/2014/main" id="{6E40C9F3-ABE6-FFB9-24E1-7FD9B656ACB4}"/>
              </a:ext>
            </a:extLst>
          </p:cNvPr>
          <p:cNvSpPr>
            <a:spLocks noGrp="1"/>
          </p:cNvSpPr>
          <p:nvPr>
            <p:ph idx="1"/>
          </p:nvPr>
        </p:nvSpPr>
        <p:spPr/>
        <p:txBody>
          <a:bodyPr/>
          <a:lstStyle/>
          <a:p>
            <a:r>
              <a:rPr lang="en-US" dirty="0"/>
              <a:t>Because the data is time series, correlation/regression likely won’t work</a:t>
            </a:r>
          </a:p>
          <a:p>
            <a:pPr lvl="1"/>
            <a:r>
              <a:rPr lang="en-US" dirty="0"/>
              <a:t>Specifically because of autocorrelation</a:t>
            </a:r>
          </a:p>
          <a:p>
            <a:pPr lvl="2"/>
            <a:r>
              <a:rPr lang="en-US" dirty="0"/>
              <a:t>Correlation/regression assume no relationship between observations, specifically no time/seasonal relationship</a:t>
            </a:r>
          </a:p>
          <a:p>
            <a:pPr lvl="2"/>
            <a:r>
              <a:rPr lang="en-US" dirty="0"/>
              <a:t>Use Ljung–Box Test Statistical test for autocorrelation in residuals</a:t>
            </a:r>
          </a:p>
          <a:p>
            <a:pPr lvl="3"/>
            <a:r>
              <a:rPr lang="en-US" dirty="0"/>
              <a:t>Finds autocorrelation</a:t>
            </a:r>
          </a:p>
          <a:p>
            <a:r>
              <a:rPr lang="en-US" dirty="0"/>
              <a:t>So what do we use instead to predict?</a:t>
            </a:r>
          </a:p>
        </p:txBody>
      </p:sp>
    </p:spTree>
    <p:extLst>
      <p:ext uri="{BB962C8B-B14F-4D97-AF65-F5344CB8AC3E}">
        <p14:creationId xmlns:p14="http://schemas.microsoft.com/office/powerpoint/2010/main" val="2402915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5FE9-89AC-353A-BE66-D6DD3CDAAC33}"/>
              </a:ext>
            </a:extLst>
          </p:cNvPr>
          <p:cNvSpPr>
            <a:spLocks noGrp="1"/>
          </p:cNvSpPr>
          <p:nvPr>
            <p:ph type="title"/>
          </p:nvPr>
        </p:nvSpPr>
        <p:spPr/>
        <p:txBody>
          <a:bodyPr/>
          <a:lstStyle/>
          <a:p>
            <a:r>
              <a:rPr lang="en-US" dirty="0"/>
              <a:t>Machine learning tools we’ll examine</a:t>
            </a:r>
          </a:p>
        </p:txBody>
      </p:sp>
      <p:sp>
        <p:nvSpPr>
          <p:cNvPr id="3" name="Content Placeholder 2">
            <a:extLst>
              <a:ext uri="{FF2B5EF4-FFF2-40B4-BE49-F238E27FC236}">
                <a16:creationId xmlns:a16="http://schemas.microsoft.com/office/drawing/2014/main" id="{3A5C2A89-C7A5-BD53-24E9-08D699CA2671}"/>
              </a:ext>
            </a:extLst>
          </p:cNvPr>
          <p:cNvSpPr>
            <a:spLocks noGrp="1"/>
          </p:cNvSpPr>
          <p:nvPr>
            <p:ph idx="1"/>
          </p:nvPr>
        </p:nvSpPr>
        <p:spPr/>
        <p:txBody>
          <a:bodyPr/>
          <a:lstStyle/>
          <a:p>
            <a:r>
              <a:rPr lang="en-US" dirty="0"/>
              <a:t>Decision Tree</a:t>
            </a:r>
          </a:p>
          <a:p>
            <a:r>
              <a:rPr lang="en-US" dirty="0"/>
              <a:t>Random Forest</a:t>
            </a:r>
          </a:p>
          <a:p>
            <a:r>
              <a:rPr lang="en-US" dirty="0"/>
              <a:t>Auto ARIMA (Seasonal Decomposition)</a:t>
            </a:r>
          </a:p>
          <a:p>
            <a:endParaRPr lang="en-US" dirty="0"/>
          </a:p>
          <a:p>
            <a:r>
              <a:rPr lang="en-US" dirty="0"/>
              <a:t>How will we compare them?</a:t>
            </a:r>
          </a:p>
          <a:p>
            <a:pPr lvl="1"/>
            <a:r>
              <a:rPr lang="en-US" dirty="0"/>
              <a:t>Train-Test splits (80% train, 20% test)</a:t>
            </a:r>
          </a:p>
          <a:p>
            <a:pPr lvl="1"/>
            <a:r>
              <a:rPr lang="en-US" dirty="0"/>
              <a:t>Compare each algorithms:</a:t>
            </a:r>
          </a:p>
          <a:p>
            <a:pPr lvl="2"/>
            <a:r>
              <a:rPr lang="en-US" dirty="0"/>
              <a:t>R squared (predictive power)</a:t>
            </a:r>
          </a:p>
          <a:p>
            <a:pPr lvl="2"/>
            <a:r>
              <a:rPr lang="en-US" dirty="0"/>
              <a:t>RSME (Root Mean Square Error) </a:t>
            </a:r>
          </a:p>
          <a:p>
            <a:pPr lvl="3"/>
            <a:r>
              <a:rPr lang="en-US" dirty="0"/>
              <a:t>A statistical measure of how accurate the predictions are</a:t>
            </a:r>
          </a:p>
        </p:txBody>
      </p:sp>
    </p:spTree>
    <p:extLst>
      <p:ext uri="{BB962C8B-B14F-4D97-AF65-F5344CB8AC3E}">
        <p14:creationId xmlns:p14="http://schemas.microsoft.com/office/powerpoint/2010/main" val="3770783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B0E7-B097-F736-024F-BA1CEC80B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C96E9-92A4-3685-3FD5-7FA1F6A17910}"/>
              </a:ext>
            </a:extLst>
          </p:cNvPr>
          <p:cNvSpPr>
            <a:spLocks noGrp="1"/>
          </p:cNvSpPr>
          <p:nvPr>
            <p:ph type="title"/>
          </p:nvPr>
        </p:nvSpPr>
        <p:spPr/>
        <p:txBody>
          <a:bodyPr/>
          <a:lstStyle/>
          <a:p>
            <a:r>
              <a:rPr lang="en-US" dirty="0"/>
              <a:t>What is a Decision Tree</a:t>
            </a:r>
          </a:p>
        </p:txBody>
      </p:sp>
      <p:sp>
        <p:nvSpPr>
          <p:cNvPr id="3" name="Content Placeholder 2">
            <a:extLst>
              <a:ext uri="{FF2B5EF4-FFF2-40B4-BE49-F238E27FC236}">
                <a16:creationId xmlns:a16="http://schemas.microsoft.com/office/drawing/2014/main" id="{47FCD0A1-19A5-71DA-8D96-54F52AB8DCFE}"/>
              </a:ext>
            </a:extLst>
          </p:cNvPr>
          <p:cNvSpPr>
            <a:spLocks noGrp="1"/>
          </p:cNvSpPr>
          <p:nvPr>
            <p:ph idx="1"/>
          </p:nvPr>
        </p:nvSpPr>
        <p:spPr>
          <a:xfrm>
            <a:off x="838200" y="1825625"/>
            <a:ext cx="5257800" cy="4351338"/>
          </a:xfrm>
        </p:spPr>
        <p:txBody>
          <a:bodyPr/>
          <a:lstStyle/>
          <a:p>
            <a:r>
              <a:rPr lang="en-US" dirty="0"/>
              <a:t>A decision tree works by repeatedly splitting data into branches based on predictor values until reaching simple, outcome‑predicting rules.</a:t>
            </a:r>
          </a:p>
          <a:p>
            <a:r>
              <a:rPr lang="en-US" dirty="0"/>
              <a:t>Show decision tree pdf</a:t>
            </a:r>
          </a:p>
          <a:p>
            <a:r>
              <a:rPr lang="en-US" dirty="0"/>
              <a:t>R squared – .59</a:t>
            </a:r>
          </a:p>
          <a:p>
            <a:r>
              <a:rPr lang="en-US" dirty="0"/>
              <a:t>RSME – 6.14</a:t>
            </a:r>
          </a:p>
        </p:txBody>
      </p:sp>
      <p:pic>
        <p:nvPicPr>
          <p:cNvPr id="3074" name="Picture 2" descr="Decision Trees Explained With a Practical Example | Towards AI">
            <a:extLst>
              <a:ext uri="{FF2B5EF4-FFF2-40B4-BE49-F238E27FC236}">
                <a16:creationId xmlns:a16="http://schemas.microsoft.com/office/drawing/2014/main" id="{2AE54D09-AA77-C14B-2B6B-96AFFB053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25625"/>
            <a:ext cx="609600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269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594EF-0DA7-E32C-1DA0-E62051DC1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278F0-CEBB-1331-6FEE-F72C6998EBB0}"/>
              </a:ext>
            </a:extLst>
          </p:cNvPr>
          <p:cNvSpPr>
            <a:spLocks noGrp="1"/>
          </p:cNvSpPr>
          <p:nvPr>
            <p:ph type="title"/>
          </p:nvPr>
        </p:nvSpPr>
        <p:spPr/>
        <p:txBody>
          <a:bodyPr/>
          <a:lstStyle/>
          <a:p>
            <a:r>
              <a:rPr lang="en-US" dirty="0"/>
              <a:t>What is a Random Forest</a:t>
            </a:r>
          </a:p>
        </p:txBody>
      </p:sp>
      <p:sp>
        <p:nvSpPr>
          <p:cNvPr id="3" name="Content Placeholder 2">
            <a:extLst>
              <a:ext uri="{FF2B5EF4-FFF2-40B4-BE49-F238E27FC236}">
                <a16:creationId xmlns:a16="http://schemas.microsoft.com/office/drawing/2014/main" id="{09455687-EFEC-1A7C-1A6A-9EF1BE24328A}"/>
              </a:ext>
            </a:extLst>
          </p:cNvPr>
          <p:cNvSpPr>
            <a:spLocks noGrp="1"/>
          </p:cNvSpPr>
          <p:nvPr>
            <p:ph idx="1"/>
          </p:nvPr>
        </p:nvSpPr>
        <p:spPr>
          <a:xfrm>
            <a:off x="838200" y="1825625"/>
            <a:ext cx="5257800" cy="4351338"/>
          </a:xfrm>
        </p:spPr>
        <p:txBody>
          <a:bodyPr>
            <a:normAutofit fontScale="85000" lnSpcReduction="10000"/>
          </a:bodyPr>
          <a:lstStyle/>
          <a:p>
            <a:r>
              <a:rPr lang="en-US" dirty="0"/>
              <a:t>A decision tree builds a single set of splits to predict outcomes, which can make it simple but prone to overfitting and instability. A random forest combines many trees trained on bootstrapped samples and random subsets of predictors, averaging their results to produce more accurate and robust predictions. </a:t>
            </a:r>
          </a:p>
          <a:p>
            <a:r>
              <a:rPr lang="en-US" dirty="0"/>
              <a:t>Params: 500 trees</a:t>
            </a:r>
          </a:p>
          <a:p>
            <a:r>
              <a:rPr lang="en-US" dirty="0"/>
              <a:t>R squared – .86 compared to DT’s .59</a:t>
            </a:r>
          </a:p>
          <a:p>
            <a:r>
              <a:rPr lang="en-US" dirty="0"/>
              <a:t>RSME – 3.6 (compared to DT’s 6.1)</a:t>
            </a:r>
          </a:p>
        </p:txBody>
      </p:sp>
      <p:pic>
        <p:nvPicPr>
          <p:cNvPr id="3074" name="Picture 2" descr="Decision Trees Explained With a Practical Example | Towards AI">
            <a:extLst>
              <a:ext uri="{FF2B5EF4-FFF2-40B4-BE49-F238E27FC236}">
                <a16:creationId xmlns:a16="http://schemas.microsoft.com/office/drawing/2014/main" id="{8DDDD322-5DAA-FE15-DCE9-1EC335388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25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ecision Trees Explained With a Practical Example | Towards AI">
            <a:extLst>
              <a:ext uri="{FF2B5EF4-FFF2-40B4-BE49-F238E27FC236}">
                <a16:creationId xmlns:a16="http://schemas.microsoft.com/office/drawing/2014/main" id="{014ADFED-F191-94AC-CA9E-2C8E31732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8260" y="550374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ecision Trees Explained With a Practical Example | Towards AI">
            <a:extLst>
              <a:ext uri="{FF2B5EF4-FFF2-40B4-BE49-F238E27FC236}">
                <a16:creationId xmlns:a16="http://schemas.microsoft.com/office/drawing/2014/main" id="{ED1B68ED-9804-D2BC-44A1-FD04DDAA7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6792" y="1472376"/>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ecision Trees Explained With a Practical Example | Towards AI">
            <a:extLst>
              <a:ext uri="{FF2B5EF4-FFF2-40B4-BE49-F238E27FC236}">
                <a16:creationId xmlns:a16="http://schemas.microsoft.com/office/drawing/2014/main" id="{FEC73240-881B-D85E-A22D-A6880149B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4090" y="3829171"/>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ecision Trees Explained With a Practical Example | Towards AI">
            <a:extLst>
              <a:ext uri="{FF2B5EF4-FFF2-40B4-BE49-F238E27FC236}">
                <a16:creationId xmlns:a16="http://schemas.microsoft.com/office/drawing/2014/main" id="{77D6DBA5-D456-D8C6-46D8-AA5087670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84" y="1217186"/>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ecision Trees Explained With a Practical Example | Towards AI">
            <a:extLst>
              <a:ext uri="{FF2B5EF4-FFF2-40B4-BE49-F238E27FC236}">
                <a16:creationId xmlns:a16="http://schemas.microsoft.com/office/drawing/2014/main" id="{ABA69C5B-1B58-E7F6-28F7-04B298601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587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ecision Trees Explained With a Practical Example | Towards AI">
            <a:extLst>
              <a:ext uri="{FF2B5EF4-FFF2-40B4-BE49-F238E27FC236}">
                <a16:creationId xmlns:a16="http://schemas.microsoft.com/office/drawing/2014/main" id="{389BEF02-16EE-157E-E60F-604895105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7961" y="125027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ecision Trees Explained With a Practical Example | Towards AI">
            <a:extLst>
              <a:ext uri="{FF2B5EF4-FFF2-40B4-BE49-F238E27FC236}">
                <a16:creationId xmlns:a16="http://schemas.microsoft.com/office/drawing/2014/main" id="{211FE016-DA20-FEF2-452B-8FCDA6152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554" y="188393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Decision Trees Explained With a Practical Example | Towards AI">
            <a:extLst>
              <a:ext uri="{FF2B5EF4-FFF2-40B4-BE49-F238E27FC236}">
                <a16:creationId xmlns:a16="http://schemas.microsoft.com/office/drawing/2014/main" id="{78C39D92-6CE8-9DFB-E3D7-4E1706415C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569" y="3233097"/>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ecision Trees Explained With a Practical Example | Towards AI">
            <a:extLst>
              <a:ext uri="{FF2B5EF4-FFF2-40B4-BE49-F238E27FC236}">
                <a16:creationId xmlns:a16="http://schemas.microsoft.com/office/drawing/2014/main" id="{33C48830-E5BF-0486-60AA-F3485F8D0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247" y="3574347"/>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ecision Trees Explained With a Practical Example | Towards AI">
            <a:extLst>
              <a:ext uri="{FF2B5EF4-FFF2-40B4-BE49-F238E27FC236}">
                <a16:creationId xmlns:a16="http://schemas.microsoft.com/office/drawing/2014/main" id="{430AC0A4-3AD0-7719-480E-FCE432C92C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2476" y="264645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Decision Trees Explained With a Practical Example | Towards AI">
            <a:extLst>
              <a:ext uri="{FF2B5EF4-FFF2-40B4-BE49-F238E27FC236}">
                <a16:creationId xmlns:a16="http://schemas.microsoft.com/office/drawing/2014/main" id="{AED8F722-3E4E-E2F3-7414-274D32B34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9436" y="53321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Decision Trees Explained With a Practical Example | Towards AI">
            <a:extLst>
              <a:ext uri="{FF2B5EF4-FFF2-40B4-BE49-F238E27FC236}">
                <a16:creationId xmlns:a16="http://schemas.microsoft.com/office/drawing/2014/main" id="{0DD73F30-6817-29A8-6150-78B880EB4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5007" y="359721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Decision Trees Explained With a Practical Example | Towards AI">
            <a:extLst>
              <a:ext uri="{FF2B5EF4-FFF2-40B4-BE49-F238E27FC236}">
                <a16:creationId xmlns:a16="http://schemas.microsoft.com/office/drawing/2014/main" id="{5B83B89A-6B72-5B06-B705-FDAD621432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2632" y="346685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Decision Trees Explained With a Practical Example | Towards AI">
            <a:extLst>
              <a:ext uri="{FF2B5EF4-FFF2-40B4-BE49-F238E27FC236}">
                <a16:creationId xmlns:a16="http://schemas.microsoft.com/office/drawing/2014/main" id="{16A35754-2F63-7AE7-5327-C41052301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4194" y="57893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Decision Trees Explained With a Practical Example | Towards AI">
            <a:extLst>
              <a:ext uri="{FF2B5EF4-FFF2-40B4-BE49-F238E27FC236}">
                <a16:creationId xmlns:a16="http://schemas.microsoft.com/office/drawing/2014/main" id="{39E748BC-3F48-0CE1-A4BD-7327F169B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111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Decision Trees Explained With a Practical Example | Towards AI">
            <a:extLst>
              <a:ext uri="{FF2B5EF4-FFF2-40B4-BE49-F238E27FC236}">
                <a16:creationId xmlns:a16="http://schemas.microsoft.com/office/drawing/2014/main" id="{46AA6CFA-AA47-E32B-C45F-D70A0B3A2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42640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ecision Trees Explained With a Practical Example | Towards AI">
            <a:extLst>
              <a:ext uri="{FF2B5EF4-FFF2-40B4-BE49-F238E27FC236}">
                <a16:creationId xmlns:a16="http://schemas.microsoft.com/office/drawing/2014/main" id="{8B535C88-C1AB-53C6-29B4-889FDF647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7393" y="4627928"/>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Decision Trees Explained With a Practical Example | Towards AI">
            <a:extLst>
              <a:ext uri="{FF2B5EF4-FFF2-40B4-BE49-F238E27FC236}">
                <a16:creationId xmlns:a16="http://schemas.microsoft.com/office/drawing/2014/main" id="{729C5341-A127-D5D7-F2E9-DB223E530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0" y="45688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Decision Trees Explained With a Practical Example | Towards AI">
            <a:extLst>
              <a:ext uri="{FF2B5EF4-FFF2-40B4-BE49-F238E27FC236}">
                <a16:creationId xmlns:a16="http://schemas.microsoft.com/office/drawing/2014/main" id="{5F360C44-582B-ECD5-520E-D005738B7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600" y="47212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Decision Trees Explained With a Practical Example | Towards AI">
            <a:extLst>
              <a:ext uri="{FF2B5EF4-FFF2-40B4-BE49-F238E27FC236}">
                <a16:creationId xmlns:a16="http://schemas.microsoft.com/office/drawing/2014/main" id="{F4DFE05B-E683-BB8F-8E48-8CB883957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3338" y="4501300"/>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Decision Trees Explained With a Practical Example | Towards AI">
            <a:extLst>
              <a:ext uri="{FF2B5EF4-FFF2-40B4-BE49-F238E27FC236}">
                <a16:creationId xmlns:a16="http://schemas.microsoft.com/office/drawing/2014/main" id="{F668972C-5647-443B-7D63-FDE3CB9EC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462" y="109033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Decision Trees Explained With a Practical Example | Towards AI">
            <a:extLst>
              <a:ext uri="{FF2B5EF4-FFF2-40B4-BE49-F238E27FC236}">
                <a16:creationId xmlns:a16="http://schemas.microsoft.com/office/drawing/2014/main" id="{F0FBB572-C162-9618-6BB8-BF204051A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3169" y="216528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Decision Trees Explained With a Practical Example | Towards AI">
            <a:extLst>
              <a:ext uri="{FF2B5EF4-FFF2-40B4-BE49-F238E27FC236}">
                <a16:creationId xmlns:a16="http://schemas.microsoft.com/office/drawing/2014/main" id="{247476A7-8930-E497-9DC4-EEAA3EAF7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3206" y="2684430"/>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Decision Trees Explained With a Practical Example | Towards AI">
            <a:extLst>
              <a:ext uri="{FF2B5EF4-FFF2-40B4-BE49-F238E27FC236}">
                <a16:creationId xmlns:a16="http://schemas.microsoft.com/office/drawing/2014/main" id="{22F0D70A-430F-AB51-4C75-3ABB03745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7829" y="472298"/>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Decision Trees Explained With a Practical Example | Towards AI">
            <a:extLst>
              <a:ext uri="{FF2B5EF4-FFF2-40B4-BE49-F238E27FC236}">
                <a16:creationId xmlns:a16="http://schemas.microsoft.com/office/drawing/2014/main" id="{E4CA5035-21D5-238D-FEB1-4FA5CD25AD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0058" y="200211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Decision Trees Explained With a Practical Example | Towards AI">
            <a:extLst>
              <a:ext uri="{FF2B5EF4-FFF2-40B4-BE49-F238E27FC236}">
                <a16:creationId xmlns:a16="http://schemas.microsoft.com/office/drawing/2014/main" id="{DD906A71-7E59-6F5F-1210-E39490324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4436" y="44638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Decision Trees Explained With a Practical Example | Towards AI">
            <a:extLst>
              <a:ext uri="{FF2B5EF4-FFF2-40B4-BE49-F238E27FC236}">
                <a16:creationId xmlns:a16="http://schemas.microsoft.com/office/drawing/2014/main" id="{6AD8FACA-419D-0382-2855-ADE532DC8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483" y="3544094"/>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Decision Trees Explained With a Practical Example | Towards AI">
            <a:extLst>
              <a:ext uri="{FF2B5EF4-FFF2-40B4-BE49-F238E27FC236}">
                <a16:creationId xmlns:a16="http://schemas.microsoft.com/office/drawing/2014/main" id="{0A447DEB-3C21-050A-0DE7-F7A2A6758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384" y="350471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Decision Trees Explained With a Practical Example | Towards AI">
            <a:extLst>
              <a:ext uri="{FF2B5EF4-FFF2-40B4-BE49-F238E27FC236}">
                <a16:creationId xmlns:a16="http://schemas.microsoft.com/office/drawing/2014/main" id="{E7F93D54-3916-8AF0-AD9B-52B708F86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6814" y="4721224"/>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Decision Trees Explained With a Practical Example | Towards AI">
            <a:extLst>
              <a:ext uri="{FF2B5EF4-FFF2-40B4-BE49-F238E27FC236}">
                <a16:creationId xmlns:a16="http://schemas.microsoft.com/office/drawing/2014/main" id="{94DDF245-3444-B748-ED28-D6A59FC6C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523" y="5290280"/>
            <a:ext cx="1351169" cy="964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221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EDE2-6982-3853-CB0B-41E8D96C7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7F56B-00DE-24FB-CDF7-83EA56AE5BD0}"/>
              </a:ext>
            </a:extLst>
          </p:cNvPr>
          <p:cNvSpPr>
            <a:spLocks noGrp="1"/>
          </p:cNvSpPr>
          <p:nvPr>
            <p:ph type="title"/>
          </p:nvPr>
        </p:nvSpPr>
        <p:spPr/>
        <p:txBody>
          <a:bodyPr/>
          <a:lstStyle/>
          <a:p>
            <a:r>
              <a:rPr lang="en-US" dirty="0"/>
              <a:t>Random Forest v2</a:t>
            </a:r>
          </a:p>
        </p:txBody>
      </p:sp>
      <p:sp>
        <p:nvSpPr>
          <p:cNvPr id="3" name="Content Placeholder 2">
            <a:extLst>
              <a:ext uri="{FF2B5EF4-FFF2-40B4-BE49-F238E27FC236}">
                <a16:creationId xmlns:a16="http://schemas.microsoft.com/office/drawing/2014/main" id="{2579BC33-FE44-95FE-219E-7C99326C3306}"/>
              </a:ext>
            </a:extLst>
          </p:cNvPr>
          <p:cNvSpPr>
            <a:spLocks noGrp="1"/>
          </p:cNvSpPr>
          <p:nvPr>
            <p:ph idx="1"/>
          </p:nvPr>
        </p:nvSpPr>
        <p:spPr>
          <a:xfrm>
            <a:off x="486467" y="1825625"/>
            <a:ext cx="5257800" cy="4351338"/>
          </a:xfrm>
        </p:spPr>
        <p:txBody>
          <a:bodyPr>
            <a:normAutofit/>
          </a:bodyPr>
          <a:lstStyle/>
          <a:p>
            <a:r>
              <a:rPr lang="en-US" dirty="0"/>
              <a:t>However, I realized most trees looked the same, so I tried new param</a:t>
            </a:r>
          </a:p>
          <a:p>
            <a:r>
              <a:rPr lang="en-US" dirty="0"/>
              <a:t>Params: </a:t>
            </a:r>
            <a:r>
              <a:rPr lang="en-US" b="1" dirty="0"/>
              <a:t>2</a:t>
            </a:r>
            <a:r>
              <a:rPr lang="en-US" dirty="0"/>
              <a:t> trees</a:t>
            </a:r>
          </a:p>
          <a:p>
            <a:r>
              <a:rPr lang="en-US" dirty="0"/>
              <a:t>R squared – .83 compared to full RF’s .86)</a:t>
            </a:r>
          </a:p>
          <a:p>
            <a:r>
              <a:rPr lang="en-US" dirty="0"/>
              <a:t>RSME – 3.9 (compared to full RF’s 3.6)</a:t>
            </a:r>
          </a:p>
          <a:p>
            <a:r>
              <a:rPr lang="en-US" dirty="0"/>
              <a:t>Show Random forest tree pdf</a:t>
            </a:r>
          </a:p>
          <a:p>
            <a:pPr marL="0" indent="0">
              <a:buNone/>
            </a:pPr>
            <a:endParaRPr lang="en-US" dirty="0"/>
          </a:p>
        </p:txBody>
      </p:sp>
      <p:pic>
        <p:nvPicPr>
          <p:cNvPr id="3074" name="Picture 2" descr="Decision Trees Explained With a Practical Example | Towards AI">
            <a:extLst>
              <a:ext uri="{FF2B5EF4-FFF2-40B4-BE49-F238E27FC236}">
                <a16:creationId xmlns:a16="http://schemas.microsoft.com/office/drawing/2014/main" id="{1A0FFEF9-21E1-B438-37A3-DF4E81474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25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ecision Trees Explained With a Practical Example | Towards AI">
            <a:extLst>
              <a:ext uri="{FF2B5EF4-FFF2-40B4-BE49-F238E27FC236}">
                <a16:creationId xmlns:a16="http://schemas.microsoft.com/office/drawing/2014/main" id="{6D9E76DD-025A-DAD0-296E-E42D47C8E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8260" y="550374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ecision Trees Explained With a Practical Example | Towards AI">
            <a:extLst>
              <a:ext uri="{FF2B5EF4-FFF2-40B4-BE49-F238E27FC236}">
                <a16:creationId xmlns:a16="http://schemas.microsoft.com/office/drawing/2014/main" id="{67009505-E3CC-D3E9-521C-916C522CC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6792" y="1472376"/>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ecision Trees Explained With a Practical Example | Towards AI">
            <a:extLst>
              <a:ext uri="{FF2B5EF4-FFF2-40B4-BE49-F238E27FC236}">
                <a16:creationId xmlns:a16="http://schemas.microsoft.com/office/drawing/2014/main" id="{EA6F9DF6-C758-62CD-54EB-B2616B55A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4090" y="3829171"/>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ecision Trees Explained With a Practical Example | Towards AI">
            <a:extLst>
              <a:ext uri="{FF2B5EF4-FFF2-40B4-BE49-F238E27FC236}">
                <a16:creationId xmlns:a16="http://schemas.microsoft.com/office/drawing/2014/main" id="{515BDE3A-63E1-740F-411A-D6FB86092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84" y="1217186"/>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ecision Trees Explained With a Practical Example | Towards AI">
            <a:extLst>
              <a:ext uri="{FF2B5EF4-FFF2-40B4-BE49-F238E27FC236}">
                <a16:creationId xmlns:a16="http://schemas.microsoft.com/office/drawing/2014/main" id="{1DD4C408-AEEB-AF39-2687-EEC6C627E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587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ecision Trees Explained With a Practical Example | Towards AI">
            <a:extLst>
              <a:ext uri="{FF2B5EF4-FFF2-40B4-BE49-F238E27FC236}">
                <a16:creationId xmlns:a16="http://schemas.microsoft.com/office/drawing/2014/main" id="{DD854526-A688-E2D1-7E98-C4E2777EA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7961" y="125027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ecision Trees Explained With a Practical Example | Towards AI">
            <a:extLst>
              <a:ext uri="{FF2B5EF4-FFF2-40B4-BE49-F238E27FC236}">
                <a16:creationId xmlns:a16="http://schemas.microsoft.com/office/drawing/2014/main" id="{597FD95E-0351-2BC0-F1A4-E5856B46F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554" y="188393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Decision Trees Explained With a Practical Example | Towards AI">
            <a:extLst>
              <a:ext uri="{FF2B5EF4-FFF2-40B4-BE49-F238E27FC236}">
                <a16:creationId xmlns:a16="http://schemas.microsoft.com/office/drawing/2014/main" id="{037FB2E2-F1E3-5BC3-39C4-77B8B5F6E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569" y="3233097"/>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ecision Trees Explained With a Practical Example | Towards AI">
            <a:extLst>
              <a:ext uri="{FF2B5EF4-FFF2-40B4-BE49-F238E27FC236}">
                <a16:creationId xmlns:a16="http://schemas.microsoft.com/office/drawing/2014/main" id="{317B43D6-5B6A-B64F-CF22-D152CB121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247" y="3574347"/>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ecision Trees Explained With a Practical Example | Towards AI">
            <a:extLst>
              <a:ext uri="{FF2B5EF4-FFF2-40B4-BE49-F238E27FC236}">
                <a16:creationId xmlns:a16="http://schemas.microsoft.com/office/drawing/2014/main" id="{DCC6E856-B13A-C411-B097-EC6855F1E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2476" y="264645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Decision Trees Explained With a Practical Example | Towards AI">
            <a:extLst>
              <a:ext uri="{FF2B5EF4-FFF2-40B4-BE49-F238E27FC236}">
                <a16:creationId xmlns:a16="http://schemas.microsoft.com/office/drawing/2014/main" id="{05EB3B68-EDD7-B91D-5224-AAD416AE95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9436" y="53321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Decision Trees Explained With a Practical Example | Towards AI">
            <a:extLst>
              <a:ext uri="{FF2B5EF4-FFF2-40B4-BE49-F238E27FC236}">
                <a16:creationId xmlns:a16="http://schemas.microsoft.com/office/drawing/2014/main" id="{9CB432E5-29C9-62A4-D7B0-173DDFCD3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5007" y="359721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Decision Trees Explained With a Practical Example | Towards AI">
            <a:extLst>
              <a:ext uri="{FF2B5EF4-FFF2-40B4-BE49-F238E27FC236}">
                <a16:creationId xmlns:a16="http://schemas.microsoft.com/office/drawing/2014/main" id="{AA6CCCCC-9DDF-9DB8-BA5D-EF4E17AE6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2632" y="346685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Decision Trees Explained With a Practical Example | Towards AI">
            <a:extLst>
              <a:ext uri="{FF2B5EF4-FFF2-40B4-BE49-F238E27FC236}">
                <a16:creationId xmlns:a16="http://schemas.microsoft.com/office/drawing/2014/main" id="{F6F626A3-479E-63B0-6C32-498E68447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4194" y="57893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Decision Trees Explained With a Practical Example | Towards AI">
            <a:extLst>
              <a:ext uri="{FF2B5EF4-FFF2-40B4-BE49-F238E27FC236}">
                <a16:creationId xmlns:a16="http://schemas.microsoft.com/office/drawing/2014/main" id="{561619B3-8022-2FCC-CB01-5579BE7D71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1116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Decision Trees Explained With a Practical Example | Towards AI">
            <a:extLst>
              <a:ext uri="{FF2B5EF4-FFF2-40B4-BE49-F238E27FC236}">
                <a16:creationId xmlns:a16="http://schemas.microsoft.com/office/drawing/2014/main" id="{ADA88835-DB72-3C63-BC71-D2CA8A7C9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42640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ecision Trees Explained With a Practical Example | Towards AI">
            <a:extLst>
              <a:ext uri="{FF2B5EF4-FFF2-40B4-BE49-F238E27FC236}">
                <a16:creationId xmlns:a16="http://schemas.microsoft.com/office/drawing/2014/main" id="{9615ABD9-A786-6CBE-FC7B-2CD9F3BEDA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7393" y="4627928"/>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Decision Trees Explained With a Practical Example | Towards AI">
            <a:extLst>
              <a:ext uri="{FF2B5EF4-FFF2-40B4-BE49-F238E27FC236}">
                <a16:creationId xmlns:a16="http://schemas.microsoft.com/office/drawing/2014/main" id="{7018EA08-4178-5934-E787-1E5EB8F5C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0" y="45688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Decision Trees Explained With a Practical Example | Towards AI">
            <a:extLst>
              <a:ext uri="{FF2B5EF4-FFF2-40B4-BE49-F238E27FC236}">
                <a16:creationId xmlns:a16="http://schemas.microsoft.com/office/drawing/2014/main" id="{35149B9B-1C79-2F54-F512-A3E5C378F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600" y="472122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Decision Trees Explained With a Practical Example | Towards AI">
            <a:extLst>
              <a:ext uri="{FF2B5EF4-FFF2-40B4-BE49-F238E27FC236}">
                <a16:creationId xmlns:a16="http://schemas.microsoft.com/office/drawing/2014/main" id="{D60E9E73-54AA-5A83-5FB0-D078C9FBE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3338" y="4501300"/>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Decision Trees Explained With a Practical Example | Towards AI">
            <a:extLst>
              <a:ext uri="{FF2B5EF4-FFF2-40B4-BE49-F238E27FC236}">
                <a16:creationId xmlns:a16="http://schemas.microsoft.com/office/drawing/2014/main" id="{7F6C8006-4F10-963B-A27A-1DA88914C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462" y="109033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Decision Trees Explained With a Practical Example | Towards AI">
            <a:extLst>
              <a:ext uri="{FF2B5EF4-FFF2-40B4-BE49-F238E27FC236}">
                <a16:creationId xmlns:a16="http://schemas.microsoft.com/office/drawing/2014/main" id="{5AF1C8B2-B1C1-7CE0-22FE-FFAA95A44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3169" y="2165289"/>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Decision Trees Explained With a Practical Example | Towards AI">
            <a:extLst>
              <a:ext uri="{FF2B5EF4-FFF2-40B4-BE49-F238E27FC236}">
                <a16:creationId xmlns:a16="http://schemas.microsoft.com/office/drawing/2014/main" id="{DB2322A0-4E68-29E8-9613-7A89716A0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3206" y="2684430"/>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Decision Trees Explained With a Practical Example | Towards AI">
            <a:extLst>
              <a:ext uri="{FF2B5EF4-FFF2-40B4-BE49-F238E27FC236}">
                <a16:creationId xmlns:a16="http://schemas.microsoft.com/office/drawing/2014/main" id="{A3EA1627-023A-B3B8-8E08-14229E1424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7829" y="472298"/>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Decision Trees Explained With a Practical Example | Towards AI">
            <a:extLst>
              <a:ext uri="{FF2B5EF4-FFF2-40B4-BE49-F238E27FC236}">
                <a16:creationId xmlns:a16="http://schemas.microsoft.com/office/drawing/2014/main" id="{C140DA92-5F86-80E1-3B9D-6CE0E193D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0058" y="200211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Decision Trees Explained With a Practical Example | Towards AI">
            <a:extLst>
              <a:ext uri="{FF2B5EF4-FFF2-40B4-BE49-F238E27FC236}">
                <a16:creationId xmlns:a16="http://schemas.microsoft.com/office/drawing/2014/main" id="{B121AE7B-658D-F43E-4852-65CEA7002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4436" y="4463805"/>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Decision Trees Explained With a Practical Example | Towards AI">
            <a:extLst>
              <a:ext uri="{FF2B5EF4-FFF2-40B4-BE49-F238E27FC236}">
                <a16:creationId xmlns:a16="http://schemas.microsoft.com/office/drawing/2014/main" id="{F31044FF-2D02-A397-F63E-ADCF0EAB2D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483" y="3544094"/>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Decision Trees Explained With a Practical Example | Towards AI">
            <a:extLst>
              <a:ext uri="{FF2B5EF4-FFF2-40B4-BE49-F238E27FC236}">
                <a16:creationId xmlns:a16="http://schemas.microsoft.com/office/drawing/2014/main" id="{1E74EA22-368C-5731-62AD-94CEED576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384" y="3504712"/>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Decision Trees Explained With a Practical Example | Towards AI">
            <a:extLst>
              <a:ext uri="{FF2B5EF4-FFF2-40B4-BE49-F238E27FC236}">
                <a16:creationId xmlns:a16="http://schemas.microsoft.com/office/drawing/2014/main" id="{5F9956EE-89CB-2F4C-A85C-63B6186F6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6814" y="4721224"/>
            <a:ext cx="1351169" cy="96446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Decision Trees Explained With a Practical Example | Towards AI">
            <a:extLst>
              <a:ext uri="{FF2B5EF4-FFF2-40B4-BE49-F238E27FC236}">
                <a16:creationId xmlns:a16="http://schemas.microsoft.com/office/drawing/2014/main" id="{8A68D223-2E74-87AC-BA7D-B995BB745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523" y="5290280"/>
            <a:ext cx="1351169" cy="964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756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16D3-DF1D-5CF2-2AC8-11845E8F1F86}"/>
              </a:ext>
            </a:extLst>
          </p:cNvPr>
          <p:cNvSpPr>
            <a:spLocks noGrp="1"/>
          </p:cNvSpPr>
          <p:nvPr>
            <p:ph type="title"/>
          </p:nvPr>
        </p:nvSpPr>
        <p:spPr/>
        <p:txBody>
          <a:bodyPr/>
          <a:lstStyle/>
          <a:p>
            <a:r>
              <a:rPr lang="en-US" dirty="0"/>
              <a:t>Why is Random Forest (even 2 trees) so much better than Decision Tree?</a:t>
            </a:r>
          </a:p>
        </p:txBody>
      </p:sp>
      <p:sp>
        <p:nvSpPr>
          <p:cNvPr id="3" name="Content Placeholder 2">
            <a:extLst>
              <a:ext uri="{FF2B5EF4-FFF2-40B4-BE49-F238E27FC236}">
                <a16:creationId xmlns:a16="http://schemas.microsoft.com/office/drawing/2014/main" id="{FFB0C179-18BD-4897-BA11-9E820714190F}"/>
              </a:ext>
            </a:extLst>
          </p:cNvPr>
          <p:cNvSpPr>
            <a:spLocks noGrp="1"/>
          </p:cNvSpPr>
          <p:nvPr>
            <p:ph idx="1"/>
          </p:nvPr>
        </p:nvSpPr>
        <p:spPr/>
        <p:txBody>
          <a:bodyPr>
            <a:normAutofit fontScale="92500"/>
          </a:bodyPr>
          <a:lstStyle/>
          <a:p>
            <a:r>
              <a:rPr lang="en-US" b="1" dirty="0"/>
              <a:t>Bootstrap Sampling </a:t>
            </a:r>
            <a:endParaRPr lang="en-US" dirty="0"/>
          </a:p>
          <a:p>
            <a:pPr lvl="1"/>
            <a:r>
              <a:rPr lang="en-US" dirty="0"/>
              <a:t>Random forests train each tree on a bootstrap sample (a resampled version of your training data). That resample may smooth out quirks in the data, leading to a tree that generalizes better than one trained on the full dataset.</a:t>
            </a:r>
          </a:p>
          <a:p>
            <a:r>
              <a:rPr lang="en-US" b="1" dirty="0"/>
              <a:t>Random Subset of Predictors </a:t>
            </a:r>
            <a:r>
              <a:rPr lang="en-US" dirty="0"/>
              <a:t>(</a:t>
            </a:r>
            <a:r>
              <a:rPr lang="en-US" dirty="0" err="1"/>
              <a:t>mtry</a:t>
            </a:r>
            <a:r>
              <a:rPr lang="en-US" dirty="0"/>
              <a:t>)</a:t>
            </a:r>
          </a:p>
          <a:p>
            <a:pPr lvl="1"/>
            <a:r>
              <a:rPr lang="en-US" dirty="0"/>
              <a:t>At each split, RF considers only a random subset of predictors. Even with few predictors, this restriction can prevent overfitting and force splits that generalize better.</a:t>
            </a:r>
          </a:p>
          <a:p>
            <a:r>
              <a:rPr lang="en-US" b="1" dirty="0"/>
              <a:t>Target Distribution &amp; Noise. </a:t>
            </a:r>
          </a:p>
          <a:p>
            <a:pPr lvl="1"/>
            <a:r>
              <a:rPr lang="en-US" dirty="0"/>
              <a:t>Electricity use has strong seasonal and trend signals. A single RF tree trained on a bootstrap sample may capture those signals more cleanly than an </a:t>
            </a:r>
            <a:r>
              <a:rPr lang="en-US" dirty="0" err="1"/>
              <a:t>rpart</a:t>
            </a:r>
            <a:r>
              <a:rPr lang="en-US" dirty="0"/>
              <a:t> tree that tries to balance bias/variance with pruning.</a:t>
            </a:r>
          </a:p>
        </p:txBody>
      </p:sp>
    </p:spTree>
    <p:extLst>
      <p:ext uri="{BB962C8B-B14F-4D97-AF65-F5344CB8AC3E}">
        <p14:creationId xmlns:p14="http://schemas.microsoft.com/office/powerpoint/2010/main" val="341611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87714-B869-7FA7-DF13-063A92F0E7DA}"/>
              </a:ext>
            </a:extLst>
          </p:cNvPr>
          <p:cNvSpPr>
            <a:spLocks noGrp="1"/>
          </p:cNvSpPr>
          <p:nvPr>
            <p:ph type="title"/>
          </p:nvPr>
        </p:nvSpPr>
        <p:spPr/>
        <p:txBody>
          <a:bodyPr/>
          <a:lstStyle/>
          <a:p>
            <a:r>
              <a:rPr lang="en-US" dirty="0"/>
              <a:t>Actual difference for Random Forest tree count</a:t>
            </a:r>
          </a:p>
        </p:txBody>
      </p:sp>
      <p:sp>
        <p:nvSpPr>
          <p:cNvPr id="3" name="Content Placeholder 2">
            <a:extLst>
              <a:ext uri="{FF2B5EF4-FFF2-40B4-BE49-F238E27FC236}">
                <a16:creationId xmlns:a16="http://schemas.microsoft.com/office/drawing/2014/main" id="{334C223D-8BF1-6644-B78A-0E77DBEA9550}"/>
              </a:ext>
            </a:extLst>
          </p:cNvPr>
          <p:cNvSpPr>
            <a:spLocks noGrp="1"/>
          </p:cNvSpPr>
          <p:nvPr>
            <p:ph idx="1"/>
          </p:nvPr>
        </p:nvSpPr>
        <p:spPr/>
        <p:txBody>
          <a:bodyPr>
            <a:normAutofit lnSpcReduction="10000"/>
          </a:bodyPr>
          <a:lstStyle/>
          <a:p>
            <a:r>
              <a:rPr lang="en-US" dirty="0"/>
              <a:t>Even while a random forest with 2 trees is very close in predictive power to 500 trees, what if we test that further?</a:t>
            </a:r>
          </a:p>
          <a:p>
            <a:pPr lvl="1"/>
            <a:r>
              <a:rPr lang="en-US" dirty="0"/>
              <a:t>But How?</a:t>
            </a:r>
          </a:p>
          <a:p>
            <a:r>
              <a:rPr lang="en-US" dirty="0"/>
              <a:t>Cross validation</a:t>
            </a:r>
          </a:p>
          <a:p>
            <a:pPr lvl="1"/>
            <a:r>
              <a:rPr lang="en-US" dirty="0"/>
              <a:t>Try 10 variations on how train data is split and test both types of RF’s (folds)</a:t>
            </a:r>
          </a:p>
          <a:p>
            <a:pPr lvl="2"/>
            <a:r>
              <a:rPr lang="en-US" dirty="0"/>
              <a:t>*</a:t>
            </a:r>
            <a:r>
              <a:rPr lang="en-US" i="1" dirty="0"/>
              <a:t>Note: these RSMEs and R2s don’t match previous results because cross validation evaluates RSME and r2 differently than normal RF analysis</a:t>
            </a:r>
          </a:p>
          <a:p>
            <a:pPr lvl="2"/>
            <a:r>
              <a:rPr lang="en-US" dirty="0"/>
              <a:t>1 tree- RSME is 4.0 and r2 is .93, pretty good</a:t>
            </a:r>
          </a:p>
          <a:p>
            <a:pPr lvl="2"/>
            <a:r>
              <a:rPr lang="en-US" dirty="0"/>
              <a:t>2 trees- RSME is 3.6 and r2 is .94, better</a:t>
            </a:r>
          </a:p>
          <a:p>
            <a:pPr lvl="2"/>
            <a:r>
              <a:rPr lang="en-US" dirty="0"/>
              <a:t>500 trees-RSME is 2.7 and r2 is .97, even better</a:t>
            </a:r>
          </a:p>
          <a:p>
            <a:r>
              <a:rPr lang="en-US" dirty="0"/>
              <a:t>Every bit counts though</a:t>
            </a:r>
          </a:p>
        </p:txBody>
      </p:sp>
    </p:spTree>
    <p:extLst>
      <p:ext uri="{BB962C8B-B14F-4D97-AF65-F5344CB8AC3E}">
        <p14:creationId xmlns:p14="http://schemas.microsoft.com/office/powerpoint/2010/main" val="145602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C0CE2-49E6-2013-A074-7854D1B49ADC}"/>
              </a:ext>
            </a:extLst>
          </p:cNvPr>
          <p:cNvSpPr>
            <a:spLocks noGrp="1"/>
          </p:cNvSpPr>
          <p:nvPr>
            <p:ph type="title"/>
          </p:nvPr>
        </p:nvSpPr>
        <p:spPr/>
        <p:txBody>
          <a:bodyPr/>
          <a:lstStyle/>
          <a:p>
            <a:r>
              <a:rPr lang="en-US" dirty="0"/>
              <a:t>Random forest improvement</a:t>
            </a:r>
          </a:p>
        </p:txBody>
      </p:sp>
      <p:sp>
        <p:nvSpPr>
          <p:cNvPr id="3" name="Content Placeholder 2">
            <a:extLst>
              <a:ext uri="{FF2B5EF4-FFF2-40B4-BE49-F238E27FC236}">
                <a16:creationId xmlns:a16="http://schemas.microsoft.com/office/drawing/2014/main" id="{7E61D9AD-529D-BED1-5AE1-444D30A82C02}"/>
              </a:ext>
            </a:extLst>
          </p:cNvPr>
          <p:cNvSpPr>
            <a:spLocks noGrp="1"/>
          </p:cNvSpPr>
          <p:nvPr>
            <p:ph idx="1"/>
          </p:nvPr>
        </p:nvSpPr>
        <p:spPr/>
        <p:txBody>
          <a:bodyPr/>
          <a:lstStyle/>
          <a:p>
            <a:r>
              <a:rPr lang="en-US" dirty="0"/>
              <a:t>Could we make random forest work better?</a:t>
            </a:r>
          </a:p>
          <a:p>
            <a:pPr lvl="1"/>
            <a:r>
              <a:rPr lang="en-US" dirty="0"/>
              <a:t>What about using lags?</a:t>
            </a:r>
          </a:p>
          <a:p>
            <a:pPr lvl="1"/>
            <a:r>
              <a:rPr lang="en-US" dirty="0"/>
              <a:t>Great for teasing out strange time-series data behavior</a:t>
            </a:r>
          </a:p>
          <a:p>
            <a:r>
              <a:rPr lang="en-US" dirty="0"/>
              <a:t>Did adding lags help?</a:t>
            </a:r>
          </a:p>
          <a:p>
            <a:pPr lvl="1"/>
            <a:r>
              <a:rPr lang="en-US" dirty="0"/>
              <a:t>No improvement in predictive quality</a:t>
            </a:r>
          </a:p>
          <a:p>
            <a:pPr lvl="2"/>
            <a:r>
              <a:rPr lang="en-US" dirty="0"/>
              <a:t>Maybe it's because we have ~397 monthly observations. That’s relatively small for a high‑variance model like random forest. Adding lag features reduces the effective sample size (because the first 12 rows get dropped for lag12) and increases dimensionality. With fewer rows and more predictors, the model can overfit or become unstable.</a:t>
            </a:r>
          </a:p>
        </p:txBody>
      </p:sp>
    </p:spTree>
    <p:extLst>
      <p:ext uri="{BB962C8B-B14F-4D97-AF65-F5344CB8AC3E}">
        <p14:creationId xmlns:p14="http://schemas.microsoft.com/office/powerpoint/2010/main" val="418918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BE1A-802F-1856-2475-4ADDF15C5BE0}"/>
              </a:ext>
            </a:extLst>
          </p:cNvPr>
          <p:cNvSpPr>
            <a:spLocks noGrp="1"/>
          </p:cNvSpPr>
          <p:nvPr>
            <p:ph type="title"/>
          </p:nvPr>
        </p:nvSpPr>
        <p:spPr/>
        <p:txBody>
          <a:bodyPr/>
          <a:lstStyle/>
          <a:p>
            <a:r>
              <a:rPr lang="en-US" dirty="0"/>
              <a:t>Seasonal Decomposition</a:t>
            </a:r>
          </a:p>
        </p:txBody>
      </p:sp>
      <p:sp>
        <p:nvSpPr>
          <p:cNvPr id="3" name="Content Placeholder 2">
            <a:extLst>
              <a:ext uri="{FF2B5EF4-FFF2-40B4-BE49-F238E27FC236}">
                <a16:creationId xmlns:a16="http://schemas.microsoft.com/office/drawing/2014/main" id="{4EB84A19-94F4-7B10-0D7D-2BA66B7ACB24}"/>
              </a:ext>
            </a:extLst>
          </p:cNvPr>
          <p:cNvSpPr>
            <a:spLocks noGrp="1"/>
          </p:cNvSpPr>
          <p:nvPr>
            <p:ph idx="1"/>
          </p:nvPr>
        </p:nvSpPr>
        <p:spPr/>
        <p:txBody>
          <a:bodyPr/>
          <a:lstStyle/>
          <a:p>
            <a:r>
              <a:rPr lang="en-US" b="1" dirty="0"/>
              <a:t>Purpose:</a:t>
            </a:r>
            <a:r>
              <a:rPr lang="en-US" dirty="0"/>
              <a:t> Breaks a time series into three parts:</a:t>
            </a:r>
          </a:p>
          <a:p>
            <a:pPr lvl="1"/>
            <a:r>
              <a:rPr lang="en-US" b="1" dirty="0"/>
              <a:t>Trend</a:t>
            </a:r>
            <a:r>
              <a:rPr lang="en-US" dirty="0"/>
              <a:t> (long-term movement)</a:t>
            </a:r>
          </a:p>
          <a:p>
            <a:pPr lvl="1"/>
            <a:r>
              <a:rPr lang="en-US" b="1" dirty="0"/>
              <a:t>Seasonal</a:t>
            </a:r>
            <a:r>
              <a:rPr lang="en-US" dirty="0"/>
              <a:t> (repeating cycles)</a:t>
            </a:r>
          </a:p>
          <a:p>
            <a:pPr lvl="1"/>
            <a:r>
              <a:rPr lang="en-US" b="1" dirty="0"/>
              <a:t>Remainder</a:t>
            </a:r>
            <a:r>
              <a:rPr lang="en-US" dirty="0"/>
              <a:t> (residual noise)</a:t>
            </a:r>
          </a:p>
          <a:p>
            <a:endParaRPr lang="en-US" dirty="0"/>
          </a:p>
        </p:txBody>
      </p:sp>
    </p:spTree>
    <p:extLst>
      <p:ext uri="{BB962C8B-B14F-4D97-AF65-F5344CB8AC3E}">
        <p14:creationId xmlns:p14="http://schemas.microsoft.com/office/powerpoint/2010/main" val="3782432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F994-B607-D142-2285-79C74C0D2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D8F69-AC26-A6A2-7C39-F4D8419EF69E}"/>
              </a:ext>
            </a:extLst>
          </p:cNvPr>
          <p:cNvSpPr>
            <a:spLocks noGrp="1"/>
          </p:cNvSpPr>
          <p:nvPr>
            <p:ph type="title"/>
          </p:nvPr>
        </p:nvSpPr>
        <p:spPr>
          <a:xfrm>
            <a:off x="990600" y="44327"/>
            <a:ext cx="10515600" cy="647335"/>
          </a:xfrm>
        </p:spPr>
        <p:txBody>
          <a:bodyPr>
            <a:normAutofit fontScale="90000"/>
          </a:bodyPr>
          <a:lstStyle/>
          <a:p>
            <a:pPr algn="ctr"/>
            <a:r>
              <a:rPr lang="en-US" dirty="0"/>
              <a:t>Seasonal Decomposition</a:t>
            </a:r>
          </a:p>
        </p:txBody>
      </p:sp>
      <p:sp>
        <p:nvSpPr>
          <p:cNvPr id="4" name="AutoShape 2">
            <a:extLst>
              <a:ext uri="{FF2B5EF4-FFF2-40B4-BE49-F238E27FC236}">
                <a16:creationId xmlns:a16="http://schemas.microsoft.com/office/drawing/2014/main" id="{7D7878AE-E2DB-85D5-F24F-24E114B6F0E1}"/>
              </a:ext>
            </a:extLst>
          </p:cNvPr>
          <p:cNvSpPr>
            <a:spLocks noChangeAspect="1" noChangeArrowheads="1"/>
          </p:cNvSpPr>
          <p:nvPr/>
        </p:nvSpPr>
        <p:spPr bwMode="auto">
          <a:xfrm>
            <a:off x="3915508" y="1248508"/>
            <a:ext cx="2332892" cy="23328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78C42A6-561B-BEDC-7DF0-6F1BEE9B3D2C}"/>
              </a:ext>
            </a:extLst>
          </p:cNvPr>
          <p:cNvPicPr>
            <a:picLocks noChangeAspect="1"/>
          </p:cNvPicPr>
          <p:nvPr/>
        </p:nvPicPr>
        <p:blipFill>
          <a:blip r:embed="rId2"/>
          <a:stretch>
            <a:fillRect/>
          </a:stretch>
        </p:blipFill>
        <p:spPr>
          <a:xfrm>
            <a:off x="404446" y="904207"/>
            <a:ext cx="11383108" cy="5909466"/>
          </a:xfrm>
          <a:prstGeom prst="rect">
            <a:avLst/>
          </a:prstGeom>
        </p:spPr>
      </p:pic>
    </p:spTree>
    <p:extLst>
      <p:ext uri="{BB962C8B-B14F-4D97-AF65-F5344CB8AC3E}">
        <p14:creationId xmlns:p14="http://schemas.microsoft.com/office/powerpoint/2010/main" val="215050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A27A-15D2-D001-EEFA-A947E71A362F}"/>
              </a:ext>
            </a:extLst>
          </p:cNvPr>
          <p:cNvSpPr>
            <a:spLocks noGrp="1"/>
          </p:cNvSpPr>
          <p:nvPr>
            <p:ph type="title"/>
          </p:nvPr>
        </p:nvSpPr>
        <p:spPr/>
        <p:txBody>
          <a:bodyPr/>
          <a:lstStyle/>
          <a:p>
            <a:r>
              <a:rPr lang="en-US" dirty="0"/>
              <a:t>But no seasonal decomp for predictions?</a:t>
            </a:r>
          </a:p>
        </p:txBody>
      </p:sp>
      <p:sp>
        <p:nvSpPr>
          <p:cNvPr id="5" name="Rectangle 2">
            <a:extLst>
              <a:ext uri="{FF2B5EF4-FFF2-40B4-BE49-F238E27FC236}">
                <a16:creationId xmlns:a16="http://schemas.microsoft.com/office/drawing/2014/main" id="{EEB2D349-A4CD-C668-8F4D-C8E35B1FED5D}"/>
              </a:ext>
            </a:extLst>
          </p:cNvPr>
          <p:cNvSpPr>
            <a:spLocks noGrp="1" noChangeArrowheads="1"/>
          </p:cNvSpPr>
          <p:nvPr>
            <p:ph idx="1"/>
          </p:nvPr>
        </p:nvSpPr>
        <p:spPr bwMode="auto">
          <a:xfrm>
            <a:off x="638908" y="1566953"/>
            <a:ext cx="10064262"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Seasonal Decomposition</a:t>
            </a:r>
            <a:r>
              <a:rPr kumimoji="0" lang="en-US" altLang="en-US" sz="2400" i="0" u="none" strike="noStrike" cap="none" normalizeH="0" baseline="0" dirty="0">
                <a:ln>
                  <a:noFill/>
                </a:ln>
                <a:solidFill>
                  <a:schemeClr val="tx1"/>
                </a:solidFill>
                <a:effectLst/>
                <a:latin typeface="Arial" panose="020B0604020202020204" pitchFamily="34" charset="0"/>
              </a:rPr>
              <a:t> is just a visualizer</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Auto ARIMA (</a:t>
            </a:r>
            <a:r>
              <a:rPr lang="en-US" dirty="0"/>
              <a:t>Autoregressive Integrated Moving Average)</a:t>
            </a:r>
            <a:r>
              <a:rPr kumimoji="0" lang="en-US" altLang="en-US" sz="2400" b="0" i="0" u="none" strike="noStrike" cap="none" normalizeH="0" baseline="0" dirty="0">
                <a:ln>
                  <a:noFill/>
                </a:ln>
                <a:solidFill>
                  <a:schemeClr val="tx1"/>
                </a:solidFill>
                <a:effectLst/>
                <a:latin typeface="Arial" panose="020B0604020202020204" pitchFamily="34" charset="0"/>
              </a:rPr>
              <a:t> is </a:t>
            </a:r>
            <a:r>
              <a:rPr kumimoji="0" lang="en-US" altLang="en-US" sz="2400" i="0" u="none" strike="noStrike" cap="none" normalizeH="0" baseline="0" dirty="0">
                <a:ln>
                  <a:noFill/>
                </a:ln>
                <a:solidFill>
                  <a:schemeClr val="tx1"/>
                </a:solidFill>
                <a:effectLst/>
                <a:latin typeface="Arial" panose="020B0604020202020204" pitchFamily="34" charset="0"/>
              </a:rPr>
              <a:t>predictive</a:t>
            </a:r>
            <a:r>
              <a:rPr kumimoji="0" lang="en-US" altLang="en-US" sz="2400" b="0" i="0" u="none" strike="noStrike" cap="none" normalizeH="0" baseline="0" dirty="0">
                <a:ln>
                  <a:noFill/>
                </a:ln>
                <a:solidFill>
                  <a:schemeClr val="tx1"/>
                </a:solidFill>
                <a:effectLst/>
                <a:latin typeface="Arial" panose="020B0604020202020204" pitchFamily="34" charset="0"/>
              </a:rPr>
              <a:t>: it uses the seasonal and trend information to forecast.</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They’re related because ARIMA models are designed to handle autocorrelation, differencing, and seasonality — the same structures you see visually in decomposition.</a:t>
            </a:r>
          </a:p>
          <a:p>
            <a:pPr eaLnBrk="0" fontAlgn="base" hangingPunct="0">
              <a:lnSpc>
                <a:spcPct val="100000"/>
              </a:lnSpc>
              <a:spcBef>
                <a:spcPct val="0"/>
              </a:spcBef>
              <a:spcAft>
                <a:spcPct val="0"/>
              </a:spcAft>
            </a:pPr>
            <a:r>
              <a:rPr lang="en-US" altLang="en-US" dirty="0">
                <a:latin typeface="Arial" panose="020B0604020202020204" pitchFamily="34" charset="0"/>
              </a:rPr>
              <a:t>So how about the Auto ARIMA results?</a:t>
            </a:r>
          </a:p>
          <a:p>
            <a:pPr lvl="1" eaLnBrk="0" fontAlgn="base" hangingPunct="0">
              <a:lnSpc>
                <a:spcPct val="100000"/>
              </a:lnSpc>
              <a:spcBef>
                <a:spcPct val="0"/>
              </a:spcBef>
              <a:spcAft>
                <a:spcPct val="0"/>
              </a:spcAft>
            </a:pPr>
            <a:r>
              <a:rPr lang="en-US" altLang="en-US" dirty="0">
                <a:latin typeface="Arial" panose="020B0604020202020204" pitchFamily="34" charset="0"/>
              </a:rPr>
              <a:t>RSME – 6.8 (more than double the random forest regression of 2.7)</a:t>
            </a:r>
          </a:p>
          <a:p>
            <a:pPr lvl="1" eaLnBrk="0" fontAlgn="base" hangingPunct="0">
              <a:lnSpc>
                <a:spcPct val="100000"/>
              </a:lnSpc>
              <a:spcBef>
                <a:spcPct val="0"/>
              </a:spcBef>
              <a:spcAft>
                <a:spcPct val="0"/>
              </a:spcAft>
            </a:pPr>
            <a:r>
              <a:rPr lang="en-US" altLang="en-US" dirty="0">
                <a:latin typeface="Arial" panose="020B0604020202020204" pitchFamily="34" charset="0"/>
              </a:rPr>
              <a:t>R Squared - 0.49 (compared to rf regression of .86)</a:t>
            </a:r>
          </a:p>
          <a:p>
            <a:pPr lvl="1"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595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3E62-891A-70E1-BE9D-B1C05849E8BC}"/>
              </a:ext>
            </a:extLst>
          </p:cNvPr>
          <p:cNvSpPr>
            <a:spLocks noGrp="1"/>
          </p:cNvSpPr>
          <p:nvPr>
            <p:ph type="title"/>
          </p:nvPr>
        </p:nvSpPr>
        <p:spPr/>
        <p:txBody>
          <a:bodyPr/>
          <a:lstStyle/>
          <a:p>
            <a:r>
              <a:rPr lang="en-US" dirty="0"/>
              <a:t>Auto ARIMA Redeemed</a:t>
            </a:r>
          </a:p>
        </p:txBody>
      </p:sp>
      <p:sp>
        <p:nvSpPr>
          <p:cNvPr id="3" name="Content Placeholder 2">
            <a:extLst>
              <a:ext uri="{FF2B5EF4-FFF2-40B4-BE49-F238E27FC236}">
                <a16:creationId xmlns:a16="http://schemas.microsoft.com/office/drawing/2014/main" id="{DEA17298-FB45-F92C-914D-5D251DF26DDA}"/>
              </a:ext>
            </a:extLst>
          </p:cNvPr>
          <p:cNvSpPr>
            <a:spLocks noGrp="1"/>
          </p:cNvSpPr>
          <p:nvPr>
            <p:ph idx="1"/>
          </p:nvPr>
        </p:nvSpPr>
        <p:spPr>
          <a:xfrm>
            <a:off x="0" y="1801241"/>
            <a:ext cx="4806696" cy="3661713"/>
          </a:xfrm>
        </p:spPr>
        <p:txBody>
          <a:bodyPr/>
          <a:lstStyle/>
          <a:p>
            <a:r>
              <a:rPr lang="en-US" dirty="0"/>
              <a:t>But what if we logged the electricity data?</a:t>
            </a:r>
          </a:p>
          <a:p>
            <a:pPr lvl="1"/>
            <a:r>
              <a:rPr lang="en-US" dirty="0"/>
              <a:t>which hopefully stabilizes variance and can improve residual symmetry</a:t>
            </a:r>
          </a:p>
          <a:p>
            <a:pPr lvl="1"/>
            <a:r>
              <a:rPr lang="en-US" dirty="0"/>
              <a:t>And OMG it works better</a:t>
            </a:r>
          </a:p>
          <a:p>
            <a:pPr lvl="2"/>
            <a:r>
              <a:rPr lang="en-US" dirty="0"/>
              <a:t>RSME: 4.1 (compared to RF’s 2.7)</a:t>
            </a:r>
          </a:p>
          <a:p>
            <a:pPr lvl="2"/>
            <a:r>
              <a:rPr lang="en-US" dirty="0"/>
              <a:t>R Squared – 0.82 (compared to RF’s .86, not bad)</a:t>
            </a:r>
          </a:p>
        </p:txBody>
      </p:sp>
      <p:pic>
        <p:nvPicPr>
          <p:cNvPr id="5" name="Picture 4">
            <a:extLst>
              <a:ext uri="{FF2B5EF4-FFF2-40B4-BE49-F238E27FC236}">
                <a16:creationId xmlns:a16="http://schemas.microsoft.com/office/drawing/2014/main" id="{D9DCD783-15D8-0E8A-8B09-11314071F24A}"/>
              </a:ext>
            </a:extLst>
          </p:cNvPr>
          <p:cNvPicPr>
            <a:picLocks noChangeAspect="1"/>
          </p:cNvPicPr>
          <p:nvPr/>
        </p:nvPicPr>
        <p:blipFill>
          <a:blip r:embed="rId2"/>
          <a:stretch>
            <a:fillRect/>
          </a:stretch>
        </p:blipFill>
        <p:spPr>
          <a:xfrm>
            <a:off x="5169408" y="1801241"/>
            <a:ext cx="7022592" cy="3504513"/>
          </a:xfrm>
          <a:prstGeom prst="rect">
            <a:avLst/>
          </a:prstGeom>
        </p:spPr>
      </p:pic>
      <p:sp>
        <p:nvSpPr>
          <p:cNvPr id="7" name="TextBox 6">
            <a:extLst>
              <a:ext uri="{FF2B5EF4-FFF2-40B4-BE49-F238E27FC236}">
                <a16:creationId xmlns:a16="http://schemas.microsoft.com/office/drawing/2014/main" id="{61721291-600F-15ED-FA9E-570A077C4CB2}"/>
              </a:ext>
            </a:extLst>
          </p:cNvPr>
          <p:cNvSpPr txBox="1"/>
          <p:nvPr/>
        </p:nvSpPr>
        <p:spPr>
          <a:xfrm>
            <a:off x="838200" y="5712038"/>
            <a:ext cx="10293094" cy="923330"/>
          </a:xfrm>
          <a:prstGeom prst="rect">
            <a:avLst/>
          </a:prstGeom>
          <a:noFill/>
        </p:spPr>
        <p:txBody>
          <a:bodyPr wrap="square">
            <a:spAutoFit/>
          </a:bodyPr>
          <a:lstStyle/>
          <a:p>
            <a:r>
              <a:rPr lang="en-US" dirty="0"/>
              <a:t>The log transformation doesn’t radically change the shape of the data, but it </a:t>
            </a:r>
            <a:r>
              <a:rPr lang="en-US" b="1" dirty="0"/>
              <a:t>stabilizes variance</a:t>
            </a:r>
            <a:r>
              <a:rPr lang="en-US" dirty="0"/>
              <a:t>, </a:t>
            </a:r>
            <a:r>
              <a:rPr lang="en-US" b="1" dirty="0"/>
              <a:t>improves residual behavior</a:t>
            </a:r>
            <a:r>
              <a:rPr lang="en-US" dirty="0"/>
              <a:t>, and </a:t>
            </a:r>
            <a:r>
              <a:rPr lang="en-US" b="1" dirty="0"/>
              <a:t>makes ARIMA assumptions more valid</a:t>
            </a:r>
            <a:r>
              <a:rPr lang="en-US" dirty="0"/>
              <a:t>, which leads to better RMSE and R² — even if the plots look deceptively similar.</a:t>
            </a:r>
          </a:p>
        </p:txBody>
      </p:sp>
    </p:spTree>
    <p:extLst>
      <p:ext uri="{BB962C8B-B14F-4D97-AF65-F5344CB8AC3E}">
        <p14:creationId xmlns:p14="http://schemas.microsoft.com/office/powerpoint/2010/main" val="2862973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C8D38-442F-22E1-EEB0-619934DA8C65}"/>
              </a:ext>
            </a:extLst>
          </p:cNvPr>
          <p:cNvSpPr>
            <a:spLocks noGrp="1"/>
          </p:cNvSpPr>
          <p:nvPr>
            <p:ph type="title"/>
          </p:nvPr>
        </p:nvSpPr>
        <p:spPr/>
        <p:txBody>
          <a:bodyPr/>
          <a:lstStyle/>
          <a:p>
            <a:r>
              <a:rPr lang="en-US" dirty="0"/>
              <a:t>Analyses Compared</a:t>
            </a:r>
          </a:p>
        </p:txBody>
      </p:sp>
      <p:graphicFrame>
        <p:nvGraphicFramePr>
          <p:cNvPr id="4" name="Table 3">
            <a:extLst>
              <a:ext uri="{FF2B5EF4-FFF2-40B4-BE49-F238E27FC236}">
                <a16:creationId xmlns:a16="http://schemas.microsoft.com/office/drawing/2014/main" id="{71F645D2-AD72-68D2-50DA-CBDBBDBDDA8A}"/>
              </a:ext>
            </a:extLst>
          </p:cNvPr>
          <p:cNvGraphicFramePr>
            <a:graphicFrameLocks noGrp="1"/>
          </p:cNvGraphicFramePr>
          <p:nvPr>
            <p:extLst>
              <p:ext uri="{D42A27DB-BD31-4B8C-83A1-F6EECF244321}">
                <p14:modId xmlns:p14="http://schemas.microsoft.com/office/powerpoint/2010/main" val="3600453584"/>
              </p:ext>
            </p:extLst>
          </p:nvPr>
        </p:nvGraphicFramePr>
        <p:xfrm>
          <a:off x="1520091" y="2243666"/>
          <a:ext cx="9151817" cy="3474720"/>
        </p:xfrm>
        <a:graphic>
          <a:graphicData uri="http://schemas.openxmlformats.org/drawingml/2006/table">
            <a:tbl>
              <a:tblPr firstRow="1" bandRow="1">
                <a:tableStyleId>{5C22544A-7EE6-4342-B048-85BDC9FD1C3A}</a:tableStyleId>
              </a:tblPr>
              <a:tblGrid>
                <a:gridCol w="3335134">
                  <a:extLst>
                    <a:ext uri="{9D8B030D-6E8A-4147-A177-3AD203B41FA5}">
                      <a16:colId xmlns:a16="http://schemas.microsoft.com/office/drawing/2014/main" val="3371094599"/>
                    </a:ext>
                  </a:extLst>
                </a:gridCol>
                <a:gridCol w="1372773">
                  <a:extLst>
                    <a:ext uri="{9D8B030D-6E8A-4147-A177-3AD203B41FA5}">
                      <a16:colId xmlns:a16="http://schemas.microsoft.com/office/drawing/2014/main" val="2353957459"/>
                    </a:ext>
                  </a:extLst>
                </a:gridCol>
                <a:gridCol w="1940361">
                  <a:extLst>
                    <a:ext uri="{9D8B030D-6E8A-4147-A177-3AD203B41FA5}">
                      <a16:colId xmlns:a16="http://schemas.microsoft.com/office/drawing/2014/main" val="2326117716"/>
                    </a:ext>
                  </a:extLst>
                </a:gridCol>
                <a:gridCol w="2503549">
                  <a:extLst>
                    <a:ext uri="{9D8B030D-6E8A-4147-A177-3AD203B41FA5}">
                      <a16:colId xmlns:a16="http://schemas.microsoft.com/office/drawing/2014/main" val="1439554814"/>
                    </a:ext>
                  </a:extLst>
                </a:gridCol>
              </a:tblGrid>
              <a:tr h="561006">
                <a:tc>
                  <a:txBody>
                    <a:bodyPr/>
                    <a:lstStyle/>
                    <a:p>
                      <a:pPr algn="ctr"/>
                      <a:r>
                        <a:rPr lang="en-US" sz="2400" dirty="0"/>
                        <a:t>Analysis</a:t>
                      </a:r>
                    </a:p>
                  </a:txBody>
                  <a:tcPr/>
                </a:tc>
                <a:tc>
                  <a:txBody>
                    <a:bodyPr/>
                    <a:lstStyle/>
                    <a:p>
                      <a:pPr algn="ctr"/>
                      <a:r>
                        <a:rPr lang="en-US" sz="2400" dirty="0"/>
                        <a:t>RSME</a:t>
                      </a:r>
                    </a:p>
                  </a:txBody>
                  <a:tcPr/>
                </a:tc>
                <a:tc>
                  <a:txBody>
                    <a:bodyPr/>
                    <a:lstStyle/>
                    <a:p>
                      <a:pPr algn="ctr"/>
                      <a:r>
                        <a:rPr lang="en-US" sz="2400" dirty="0"/>
                        <a:t>R Squared</a:t>
                      </a:r>
                    </a:p>
                  </a:txBody>
                  <a:tcPr/>
                </a:tc>
                <a:tc>
                  <a:txBody>
                    <a:bodyPr/>
                    <a:lstStyle/>
                    <a:p>
                      <a:pPr algn="ctr"/>
                      <a:r>
                        <a:rPr lang="en-US" sz="2400" dirty="0"/>
                        <a:t>Rank (predictive power)</a:t>
                      </a:r>
                    </a:p>
                  </a:txBody>
                  <a:tcPr/>
                </a:tc>
                <a:extLst>
                  <a:ext uri="{0D108BD9-81ED-4DB2-BD59-A6C34878D82A}">
                    <a16:rowId xmlns:a16="http://schemas.microsoft.com/office/drawing/2014/main" val="94352950"/>
                  </a:ext>
                </a:extLst>
              </a:tr>
              <a:tr h="410439">
                <a:tc>
                  <a:txBody>
                    <a:bodyPr/>
                    <a:lstStyle/>
                    <a:p>
                      <a:pPr algn="ctr"/>
                      <a:r>
                        <a:rPr lang="en-US" sz="2400" dirty="0"/>
                        <a:t>Decision Tree</a:t>
                      </a:r>
                    </a:p>
                  </a:txBody>
                  <a:tcPr/>
                </a:tc>
                <a:tc>
                  <a:txBody>
                    <a:bodyPr/>
                    <a:lstStyle/>
                    <a:p>
                      <a:pPr algn="ctr"/>
                      <a:r>
                        <a:rPr lang="en-US" sz="2400" dirty="0"/>
                        <a:t>6.14</a:t>
                      </a:r>
                    </a:p>
                  </a:txBody>
                  <a:tcPr/>
                </a:tc>
                <a:tc>
                  <a:txBody>
                    <a:bodyPr/>
                    <a:lstStyle/>
                    <a:p>
                      <a:pPr algn="ctr"/>
                      <a:r>
                        <a:rPr lang="en-US" sz="2400" dirty="0"/>
                        <a:t>0.59</a:t>
                      </a:r>
                    </a:p>
                  </a:txBody>
                  <a:tcPr/>
                </a:tc>
                <a:tc>
                  <a:txBody>
                    <a:bodyPr/>
                    <a:lstStyle/>
                    <a:p>
                      <a:pPr algn="ctr"/>
                      <a:r>
                        <a:rPr lang="en-US" sz="2400" dirty="0"/>
                        <a:t>4</a:t>
                      </a:r>
                    </a:p>
                  </a:txBody>
                  <a:tcPr/>
                </a:tc>
                <a:extLst>
                  <a:ext uri="{0D108BD9-81ED-4DB2-BD59-A6C34878D82A}">
                    <a16:rowId xmlns:a16="http://schemas.microsoft.com/office/drawing/2014/main" val="1376821821"/>
                  </a:ext>
                </a:extLst>
              </a:tr>
              <a:tr h="325027">
                <a:tc>
                  <a:txBody>
                    <a:bodyPr/>
                    <a:lstStyle/>
                    <a:p>
                      <a:pPr algn="ctr"/>
                      <a:r>
                        <a:rPr lang="en-US" sz="2400" dirty="0"/>
                        <a:t>Random Forest (500 trees)</a:t>
                      </a:r>
                    </a:p>
                  </a:txBody>
                  <a:tcPr/>
                </a:tc>
                <a:tc>
                  <a:txBody>
                    <a:bodyPr/>
                    <a:lstStyle/>
                    <a:p>
                      <a:pPr algn="ctr"/>
                      <a:r>
                        <a:rPr lang="en-US" sz="2400" dirty="0"/>
                        <a:t>3.6 </a:t>
                      </a:r>
                    </a:p>
                  </a:txBody>
                  <a:tcPr/>
                </a:tc>
                <a:tc>
                  <a:txBody>
                    <a:bodyPr/>
                    <a:lstStyle/>
                    <a:p>
                      <a:pPr algn="ctr"/>
                      <a:r>
                        <a:rPr lang="en-US" sz="2400" dirty="0"/>
                        <a:t>0.86 </a:t>
                      </a:r>
                    </a:p>
                  </a:txBody>
                  <a:tcPr/>
                </a:tc>
                <a:tc>
                  <a:txBody>
                    <a:bodyPr/>
                    <a:lstStyle/>
                    <a:p>
                      <a:pPr algn="ctr"/>
                      <a:r>
                        <a:rPr lang="en-US" sz="2400" dirty="0"/>
                        <a:t>1</a:t>
                      </a:r>
                    </a:p>
                  </a:txBody>
                  <a:tcPr/>
                </a:tc>
                <a:extLst>
                  <a:ext uri="{0D108BD9-81ED-4DB2-BD59-A6C34878D82A}">
                    <a16:rowId xmlns:a16="http://schemas.microsoft.com/office/drawing/2014/main" val="1720127497"/>
                  </a:ext>
                </a:extLst>
              </a:tr>
              <a:tr h="325027">
                <a:tc>
                  <a:txBody>
                    <a:bodyPr/>
                    <a:lstStyle/>
                    <a:p>
                      <a:pPr algn="ctr"/>
                      <a:r>
                        <a:rPr lang="en-US" sz="2400" dirty="0"/>
                        <a:t>Random Forest (2 trees)</a:t>
                      </a:r>
                    </a:p>
                  </a:txBody>
                  <a:tcPr/>
                </a:tc>
                <a:tc>
                  <a:txBody>
                    <a:bodyPr/>
                    <a:lstStyle/>
                    <a:p>
                      <a:pPr algn="ctr"/>
                      <a:r>
                        <a:rPr lang="en-US" sz="2400" dirty="0"/>
                        <a:t>3.69</a:t>
                      </a:r>
                    </a:p>
                  </a:txBody>
                  <a:tcPr/>
                </a:tc>
                <a:tc>
                  <a:txBody>
                    <a:bodyPr/>
                    <a:lstStyle/>
                    <a:p>
                      <a:pPr algn="ctr"/>
                      <a:r>
                        <a:rPr lang="en-US" sz="2400" dirty="0"/>
                        <a:t>0.83</a:t>
                      </a:r>
                    </a:p>
                  </a:txBody>
                  <a:tcPr/>
                </a:tc>
                <a:tc>
                  <a:txBody>
                    <a:bodyPr/>
                    <a:lstStyle/>
                    <a:p>
                      <a:pPr algn="ctr"/>
                      <a:r>
                        <a:rPr lang="en-US" sz="2400" dirty="0"/>
                        <a:t>2</a:t>
                      </a:r>
                    </a:p>
                  </a:txBody>
                  <a:tcPr/>
                </a:tc>
                <a:extLst>
                  <a:ext uri="{0D108BD9-81ED-4DB2-BD59-A6C34878D82A}">
                    <a16:rowId xmlns:a16="http://schemas.microsoft.com/office/drawing/2014/main" val="4056113074"/>
                  </a:ext>
                </a:extLst>
              </a:tr>
              <a:tr h="325027">
                <a:tc>
                  <a:txBody>
                    <a:bodyPr/>
                    <a:lstStyle/>
                    <a:p>
                      <a:pPr algn="ctr"/>
                      <a:r>
                        <a:rPr lang="en-US" sz="2400" dirty="0"/>
                        <a:t>Auto ARIMA</a:t>
                      </a:r>
                    </a:p>
                  </a:txBody>
                  <a:tcPr/>
                </a:tc>
                <a:tc>
                  <a:txBody>
                    <a:bodyPr/>
                    <a:lstStyle/>
                    <a:p>
                      <a:pPr algn="ctr"/>
                      <a:r>
                        <a:rPr lang="en-US" sz="2400" dirty="0"/>
                        <a:t>6.8</a:t>
                      </a:r>
                    </a:p>
                  </a:txBody>
                  <a:tcPr/>
                </a:tc>
                <a:tc>
                  <a:txBody>
                    <a:bodyPr/>
                    <a:lstStyle/>
                    <a:p>
                      <a:pPr algn="ctr"/>
                      <a:r>
                        <a:rPr lang="en-US" sz="2400" dirty="0"/>
                        <a:t>.49</a:t>
                      </a:r>
                    </a:p>
                  </a:txBody>
                  <a:tcPr/>
                </a:tc>
                <a:tc>
                  <a:txBody>
                    <a:bodyPr/>
                    <a:lstStyle/>
                    <a:p>
                      <a:pPr algn="ctr"/>
                      <a:r>
                        <a:rPr lang="en-US" sz="2400" dirty="0"/>
                        <a:t>5</a:t>
                      </a:r>
                    </a:p>
                  </a:txBody>
                  <a:tcPr/>
                </a:tc>
                <a:extLst>
                  <a:ext uri="{0D108BD9-81ED-4DB2-BD59-A6C34878D82A}">
                    <a16:rowId xmlns:a16="http://schemas.microsoft.com/office/drawing/2014/main" val="2695835874"/>
                  </a:ext>
                </a:extLst>
              </a:tr>
              <a:tr h="3250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Auto ARIMA (logged)</a:t>
                      </a:r>
                    </a:p>
                  </a:txBody>
                  <a:tcPr/>
                </a:tc>
                <a:tc>
                  <a:txBody>
                    <a:bodyPr/>
                    <a:lstStyle/>
                    <a:p>
                      <a:pPr algn="ctr"/>
                      <a:r>
                        <a:rPr lang="en-US" sz="2400" dirty="0"/>
                        <a:t>4.1</a:t>
                      </a:r>
                    </a:p>
                  </a:txBody>
                  <a:tcPr/>
                </a:tc>
                <a:tc>
                  <a:txBody>
                    <a:bodyPr/>
                    <a:lstStyle/>
                    <a:p>
                      <a:pPr algn="ctr"/>
                      <a:r>
                        <a:rPr lang="en-US" sz="2400" dirty="0"/>
                        <a:t>.82</a:t>
                      </a:r>
                    </a:p>
                  </a:txBody>
                  <a:tcPr/>
                </a:tc>
                <a:tc>
                  <a:txBody>
                    <a:bodyPr/>
                    <a:lstStyle/>
                    <a:p>
                      <a:pPr algn="ctr"/>
                      <a:r>
                        <a:rPr lang="en-US" sz="2400" dirty="0"/>
                        <a:t>3</a:t>
                      </a:r>
                    </a:p>
                  </a:txBody>
                  <a:tcPr/>
                </a:tc>
                <a:extLst>
                  <a:ext uri="{0D108BD9-81ED-4DB2-BD59-A6C34878D82A}">
                    <a16:rowId xmlns:a16="http://schemas.microsoft.com/office/drawing/2014/main" val="2481335104"/>
                  </a:ext>
                </a:extLst>
              </a:tr>
            </a:tbl>
          </a:graphicData>
        </a:graphic>
      </p:graphicFrame>
    </p:spTree>
    <p:extLst>
      <p:ext uri="{BB962C8B-B14F-4D97-AF65-F5344CB8AC3E}">
        <p14:creationId xmlns:p14="http://schemas.microsoft.com/office/powerpoint/2010/main" val="139677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TotalTime>
  <Words>972</Words>
  <Application>Microsoft Office PowerPoint</Application>
  <PresentationFormat>Widescreen</PresentationFormat>
  <Paragraphs>114</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Time Series Prediction</vt:lpstr>
      <vt:lpstr>The data – Electricity Use</vt:lpstr>
      <vt:lpstr>We want predictions but…</vt:lpstr>
      <vt:lpstr>Machine learning tools we’ll examine</vt:lpstr>
      <vt:lpstr>What is a Decision Tree</vt:lpstr>
      <vt:lpstr>What is a Random Forest</vt:lpstr>
      <vt:lpstr>Random Forest v2</vt:lpstr>
      <vt:lpstr>Why is Random Forest (even 2 trees) so much better than Decision Tree?</vt:lpstr>
      <vt:lpstr>Actual difference for Random Forest tree count</vt:lpstr>
      <vt:lpstr>Random forest improvement</vt:lpstr>
      <vt:lpstr>Seasonal Decomposition</vt:lpstr>
      <vt:lpstr>Seasonal Decomposition</vt:lpstr>
      <vt:lpstr>But no seasonal decomp for predictions?</vt:lpstr>
      <vt:lpstr>Auto ARIMA Redeemed</vt:lpstr>
      <vt:lpstr>Analyses Compared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Rauch, David (DCWP)</dc:creator>
  <cp:lastModifiedBy>Rauch, David (DCWP)</cp:lastModifiedBy>
  <cp:revision>1</cp:revision>
  <dcterms:created xsi:type="dcterms:W3CDTF">2025-12-03T18:00:51Z</dcterms:created>
  <dcterms:modified xsi:type="dcterms:W3CDTF">2025-12-03T21:12:29Z</dcterms:modified>
</cp:coreProperties>
</file>